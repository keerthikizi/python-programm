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F1917-34C0-5FC7-6406-7574E1E4AD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175D10-E9B3-24A7-263D-D91146AAA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C8FB98-14FC-EE4B-CB15-6947BB6C4141}"/>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5" name="Footer Placeholder 4">
            <a:extLst>
              <a:ext uri="{FF2B5EF4-FFF2-40B4-BE49-F238E27FC236}">
                <a16:creationId xmlns:a16="http://schemas.microsoft.com/office/drawing/2014/main" id="{005841D4-599B-DEC3-63E9-104C02DDE9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F7B12E-450C-A6F3-EC36-B1E484CBB86F}"/>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3565829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1363A-8B8C-5E9A-4CFC-4399B53D47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F19EB9-7030-602A-A1F7-0287799851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97DA88-2DAC-F9B6-7753-ED255E0C9948}"/>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5" name="Footer Placeholder 4">
            <a:extLst>
              <a:ext uri="{FF2B5EF4-FFF2-40B4-BE49-F238E27FC236}">
                <a16:creationId xmlns:a16="http://schemas.microsoft.com/office/drawing/2014/main" id="{B6CFB618-3166-FB4C-774A-A792138EB0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4A4B99-857E-F3D9-5C32-11D4E0B4CEC4}"/>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2154064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063D-66F0-5BBD-4EA3-F3F60C1144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947735-4156-3449-0059-C5E75F3DD3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E81C39-7D93-C308-11A4-6D2A4FC82FFA}"/>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5" name="Footer Placeholder 4">
            <a:extLst>
              <a:ext uri="{FF2B5EF4-FFF2-40B4-BE49-F238E27FC236}">
                <a16:creationId xmlns:a16="http://schemas.microsoft.com/office/drawing/2014/main" id="{492067B7-83BB-A773-9A7F-208737558B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7923E-1ED0-FC29-0566-C56ADE214CD0}"/>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1626262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8A06A-2BC4-5141-894E-34F53BEBAF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BD5378-1C29-0D57-DFDA-8121829A04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91B107-4687-9A09-B7A8-E5375141C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AD8C6C-72D5-A282-1862-47F2282B9F87}"/>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6" name="Footer Placeholder 5">
            <a:extLst>
              <a:ext uri="{FF2B5EF4-FFF2-40B4-BE49-F238E27FC236}">
                <a16:creationId xmlns:a16="http://schemas.microsoft.com/office/drawing/2014/main" id="{3F8E4A26-0394-B97C-DA9D-363E8E5B35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928790-4014-2CF3-ED87-AC17BBCC22C2}"/>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4227980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C441E-BC47-6618-038B-5227454D2F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A35083-0A51-EAF1-1EB1-EAEC102E95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AD8656-656F-4C38-C23F-CF7176A5DB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C14764-8DF5-AD8E-FC6D-A158616CD5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6D14AF-79BE-C907-1DDB-9B25CA720F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D4DBFC-19AA-8394-C54B-901718936738}"/>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8" name="Footer Placeholder 7">
            <a:extLst>
              <a:ext uri="{FF2B5EF4-FFF2-40B4-BE49-F238E27FC236}">
                <a16:creationId xmlns:a16="http://schemas.microsoft.com/office/drawing/2014/main" id="{CF7C65CD-D3C9-107C-389D-2865FF65B54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354AB3-9A26-77FD-8299-76F5F6FC3D64}"/>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1517989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4F39-A137-D866-1545-529161698F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CC4EBD-14E1-334A-834C-93B093B033F0}"/>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4" name="Footer Placeholder 3">
            <a:extLst>
              <a:ext uri="{FF2B5EF4-FFF2-40B4-BE49-F238E27FC236}">
                <a16:creationId xmlns:a16="http://schemas.microsoft.com/office/drawing/2014/main" id="{817519C6-D855-CC59-3E13-97C7D590E8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7A1358-340D-3F4C-4A18-D0168AD4D87A}"/>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313458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8D7CE9-AE89-9CE0-2E67-F22DAD2195DC}"/>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3" name="Footer Placeholder 2">
            <a:extLst>
              <a:ext uri="{FF2B5EF4-FFF2-40B4-BE49-F238E27FC236}">
                <a16:creationId xmlns:a16="http://schemas.microsoft.com/office/drawing/2014/main" id="{F7BB5EA1-05E3-5882-CEA7-0E7A88D4F2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56401C-8C71-605D-1A6F-753615975B3D}"/>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1646538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6050-812B-6196-5237-F4F914389D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F882D5-F9F3-2A4B-134B-A2F991E5B4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C02CC0-147B-F8A8-5319-B471637DA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92949-F3B8-02DD-486A-ADDD224E89E4}"/>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6" name="Footer Placeholder 5">
            <a:extLst>
              <a:ext uri="{FF2B5EF4-FFF2-40B4-BE49-F238E27FC236}">
                <a16:creationId xmlns:a16="http://schemas.microsoft.com/office/drawing/2014/main" id="{FBA2CF4F-7077-99F4-4F5E-377A8D03D6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F9E5DD-03D1-5944-6C78-A66EFD338445}"/>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274827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A449-D57D-8976-6CDE-3B6955AFB1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8B713D-6DB9-7667-FD25-62E8C5DD0A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7EC88E-C8CE-D338-13D7-BC5F6D5510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D5F4A-4E14-A524-3AD5-45DEBCA68B67}"/>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6" name="Footer Placeholder 5">
            <a:extLst>
              <a:ext uri="{FF2B5EF4-FFF2-40B4-BE49-F238E27FC236}">
                <a16:creationId xmlns:a16="http://schemas.microsoft.com/office/drawing/2014/main" id="{C22F3629-E5B2-01BE-9CF4-9002486A7A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D46ED-023F-04B7-2D3E-2A5CB38A53E0}"/>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1086878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667BE-7CAF-68CD-9A1F-D51F0F8C4F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4B8227-378F-1231-163D-527BF94EFA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5232EF-9DFB-299F-244F-CEAAE90BD0A8}"/>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5" name="Footer Placeholder 4">
            <a:extLst>
              <a:ext uri="{FF2B5EF4-FFF2-40B4-BE49-F238E27FC236}">
                <a16:creationId xmlns:a16="http://schemas.microsoft.com/office/drawing/2014/main" id="{B39B189A-27D2-5483-C170-D0A976DB42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0D1367-BF8A-1A12-5521-12F1D93F05F4}"/>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3003739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D5DDC8-1D83-B2E0-D403-A88504EE63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92E0A6-1325-F016-4ED8-F79B8614CF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1B91F-1AB2-C140-EBB4-B02EFFBF340F}"/>
              </a:ext>
            </a:extLst>
          </p:cNvPr>
          <p:cNvSpPr>
            <a:spLocks noGrp="1"/>
          </p:cNvSpPr>
          <p:nvPr>
            <p:ph type="dt" sz="half" idx="10"/>
          </p:nvPr>
        </p:nvSpPr>
        <p:spPr/>
        <p:txBody>
          <a:bodyPr/>
          <a:lstStyle/>
          <a:p>
            <a:fld id="{EEAFAF72-20E4-4D7D-BF06-4571844C47B1}" type="datetimeFigureOut">
              <a:rPr lang="en-IN" smtClean="0"/>
              <a:t>29-02-2024</a:t>
            </a:fld>
            <a:endParaRPr lang="en-IN"/>
          </a:p>
        </p:txBody>
      </p:sp>
      <p:sp>
        <p:nvSpPr>
          <p:cNvPr id="5" name="Footer Placeholder 4">
            <a:extLst>
              <a:ext uri="{FF2B5EF4-FFF2-40B4-BE49-F238E27FC236}">
                <a16:creationId xmlns:a16="http://schemas.microsoft.com/office/drawing/2014/main" id="{FFBBE9F8-D9CA-56F4-AE6B-D60E7BA517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118803-D82B-5921-F21F-FDCDEFF17650}"/>
              </a:ext>
            </a:extLst>
          </p:cNvPr>
          <p:cNvSpPr>
            <a:spLocks noGrp="1"/>
          </p:cNvSpPr>
          <p:nvPr>
            <p:ph type="sldNum" sz="quarter" idx="12"/>
          </p:nvPr>
        </p:nvSpPr>
        <p:spPr/>
        <p:txBody>
          <a:bodyPr/>
          <a:lstStyle/>
          <a:p>
            <a:fld id="{C92E8D83-54CB-481C-9F3E-EAEEB8F76256}" type="slidenum">
              <a:rPr lang="en-IN" smtClean="0"/>
              <a:t>‹#›</a:t>
            </a:fld>
            <a:endParaRPr lang="en-IN"/>
          </a:p>
        </p:txBody>
      </p:sp>
    </p:spTree>
    <p:extLst>
      <p:ext uri="{BB962C8B-B14F-4D97-AF65-F5344CB8AC3E}">
        <p14:creationId xmlns:p14="http://schemas.microsoft.com/office/powerpoint/2010/main" val="723312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AB5B9F-9E43-A38C-6D13-0A03C788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280492-9CB5-292D-FE90-2CFE3D8AC3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F4E358-2E16-E719-7EB3-79266AFD97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AFAF72-20E4-4D7D-BF06-4571844C47B1}" type="datetimeFigureOut">
              <a:rPr lang="en-IN" smtClean="0"/>
              <a:t>29-02-2024</a:t>
            </a:fld>
            <a:endParaRPr lang="en-IN"/>
          </a:p>
        </p:txBody>
      </p:sp>
      <p:sp>
        <p:nvSpPr>
          <p:cNvPr id="5" name="Footer Placeholder 4">
            <a:extLst>
              <a:ext uri="{FF2B5EF4-FFF2-40B4-BE49-F238E27FC236}">
                <a16:creationId xmlns:a16="http://schemas.microsoft.com/office/drawing/2014/main" id="{3E5B3131-D3AD-6C1B-3A1D-D2BA3C0669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24EB0D-345C-2E88-F831-EF55953BC9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2E8D83-54CB-481C-9F3E-EAEEB8F76256}" type="slidenum">
              <a:rPr lang="en-IN" smtClean="0"/>
              <a:t>‹#›</a:t>
            </a:fld>
            <a:endParaRPr lang="en-IN"/>
          </a:p>
        </p:txBody>
      </p:sp>
    </p:spTree>
    <p:extLst>
      <p:ext uri="{BB962C8B-B14F-4D97-AF65-F5344CB8AC3E}">
        <p14:creationId xmlns:p14="http://schemas.microsoft.com/office/powerpoint/2010/main" val="2189845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41B6F5-E0D9-F624-38BC-2BBC4890610B}"/>
              </a:ext>
            </a:extLst>
          </p:cNvPr>
          <p:cNvSpPr txBox="1"/>
          <p:nvPr/>
        </p:nvSpPr>
        <p:spPr>
          <a:xfrm>
            <a:off x="4778775" y="3044279"/>
            <a:ext cx="2634449" cy="769441"/>
          </a:xfrm>
          <a:prstGeom prst="rect">
            <a:avLst/>
          </a:prstGeom>
          <a:noFill/>
        </p:spPr>
        <p:txBody>
          <a:bodyPr wrap="square">
            <a:spAutoFit/>
          </a:bodyPr>
          <a:lstStyle/>
          <a:p>
            <a:r>
              <a:rPr lang="en-IN" sz="4400" b="1" u="sng" dirty="0">
                <a:solidFill>
                  <a:srgbClr val="303030"/>
                </a:solidFill>
                <a:effectLst/>
                <a:latin typeface="Times New Roman" panose="02020603050405020304" pitchFamily="18" charset="0"/>
                <a:ea typeface="Times New Roman" panose="02020603050405020304" pitchFamily="18" charset="0"/>
              </a:rPr>
              <a:t>Operators</a:t>
            </a:r>
            <a:endParaRPr lang="en-IN" sz="4400" dirty="0"/>
          </a:p>
        </p:txBody>
      </p:sp>
    </p:spTree>
    <p:extLst>
      <p:ext uri="{BB962C8B-B14F-4D97-AF65-F5344CB8AC3E}">
        <p14:creationId xmlns:p14="http://schemas.microsoft.com/office/powerpoint/2010/main" val="1322007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AAA8DC-68A5-9B55-02C9-12D50E54BE1D}"/>
              </a:ext>
            </a:extLst>
          </p:cNvPr>
          <p:cNvSpPr>
            <a:spLocks noGrp="1"/>
          </p:cNvSpPr>
          <p:nvPr>
            <p:ph idx="1"/>
          </p:nvPr>
        </p:nvSpPr>
        <p:spPr>
          <a:xfrm>
            <a:off x="210104" y="734627"/>
            <a:ext cx="11771791" cy="5388746"/>
          </a:xfrm>
        </p:spPr>
        <p:txBody>
          <a:bodyPr>
            <a:normAutofit lnSpcReduction="10000"/>
          </a:bodyPr>
          <a:lstStyle/>
          <a:p>
            <a:pPr marL="0" indent="0" algn="just">
              <a:lnSpc>
                <a:spcPct val="107000"/>
              </a:lnSpc>
              <a:spcBef>
                <a:spcPts val="200"/>
              </a:spcBef>
              <a:buNone/>
            </a:pPr>
            <a:r>
              <a:rPr lang="en-IN" sz="2000" dirty="0">
                <a:solidFill>
                  <a:srgbClr val="333333"/>
                </a:solidFill>
                <a:effectLst/>
                <a:highlight>
                  <a:srgbClr val="FFFFFF"/>
                </a:highlight>
                <a:latin typeface="Times New Roman" panose="02020603050405020304" pitchFamily="18" charset="0"/>
                <a:ea typeface="Times New Roman" panose="02020603050405020304" pitchFamily="18" charset="0"/>
                <a:cs typeface="Kartika" panose="02020503030404060203" pitchFamily="18" charset="0"/>
              </a:rPr>
              <a:t>The operator is a symbol that performs a certain operation between two operands.</a:t>
            </a:r>
            <a:endParaRPr lang="en-IN" sz="2000" dirty="0">
              <a:solidFill>
                <a:srgbClr val="2F5496"/>
              </a:solidFill>
              <a:effectLst/>
              <a:latin typeface="Calibri Light" panose="020F0302020204030204" pitchFamily="34" charset="0"/>
              <a:ea typeface="Times New Roman" panose="02020603050405020304" pitchFamily="18" charset="0"/>
              <a:cs typeface="Kartika" panose="02020503030404060203" pitchFamily="18" charset="0"/>
            </a:endParaRPr>
          </a:p>
          <a:p>
            <a:pPr marL="0" indent="0">
              <a:lnSpc>
                <a:spcPct val="107000"/>
              </a:lnSpc>
              <a:spcAft>
                <a:spcPts val="800"/>
              </a:spcAft>
              <a:buNone/>
            </a:pPr>
            <a:r>
              <a:rPr lang="en-IN" sz="2000" dirty="0">
                <a:effectLst/>
                <a:latin typeface="Calibri" panose="020F0502020204030204" pitchFamily="34" charset="0"/>
                <a:ea typeface="Calibri" panose="020F0502020204030204" pitchFamily="34" charset="0"/>
              </a:rPr>
              <a:t> </a:t>
            </a:r>
          </a:p>
          <a:p>
            <a:pPr marL="0" indent="0">
              <a:lnSpc>
                <a:spcPct val="107000"/>
              </a:lnSpc>
              <a:spcBef>
                <a:spcPts val="200"/>
              </a:spcBef>
              <a:buNone/>
            </a:pPr>
            <a:r>
              <a:rPr lang="en-IN" sz="2000" b="1" u="sng"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Types of Python Operators</a:t>
            </a:r>
            <a:endParaRPr lang="en-IN" sz="2000" b="1" dirty="0">
              <a:solidFill>
                <a:srgbClr val="2F5496"/>
              </a:solidFill>
              <a:effectLst/>
              <a:latin typeface="Calibri Light" panose="020F0302020204030204" pitchFamily="34" charset="0"/>
              <a:ea typeface="Times New Roman" panose="02020603050405020304" pitchFamily="18" charset="0"/>
              <a:cs typeface="Kartika" panose="02020503030404060203" pitchFamily="18" charset="0"/>
            </a:endParaRPr>
          </a:p>
          <a:p>
            <a:pPr marL="0" indent="0" algn="just">
              <a:lnSpc>
                <a:spcPct val="107000"/>
              </a:lnSpc>
              <a:spcBef>
                <a:spcPts val="600"/>
              </a:spcBef>
              <a:spcAft>
                <a:spcPts val="720"/>
              </a:spcAft>
              <a:buNone/>
            </a:pPr>
            <a:r>
              <a:rPr lang="en-IN" sz="2000" dirty="0">
                <a:solidFill>
                  <a:srgbClr val="000000"/>
                </a:solidFill>
                <a:effectLst/>
                <a:latin typeface="Times New Roman" panose="02020603050405020304" pitchFamily="18" charset="0"/>
                <a:ea typeface="Times New Roman" panose="02020603050405020304" pitchFamily="18" charset="0"/>
              </a:rPr>
              <a:t>Python language supports the following types of operators.</a:t>
            </a:r>
            <a:endParaRPr lang="en-IN" sz="2000" dirty="0">
              <a:effectLst/>
              <a:latin typeface="Calibri" panose="020F0502020204030204" pitchFamily="34" charset="0"/>
              <a:ea typeface="Calibri" panose="020F0502020204030204" pitchFamily="34" charset="0"/>
            </a:endParaRPr>
          </a:p>
          <a:p>
            <a:pPr marL="914400" lvl="1" indent="-457200">
              <a:lnSpc>
                <a:spcPct val="107000"/>
              </a:lnSpc>
              <a:spcBef>
                <a:spcPts val="1400"/>
              </a:spcBef>
              <a:spcAft>
                <a:spcPts val="8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Arithmetic Operators</a:t>
            </a:r>
            <a:endParaRPr lang="en-IN" sz="2000" dirty="0">
              <a:effectLst/>
              <a:latin typeface="Noto Sans Symbols"/>
              <a:ea typeface="Noto Sans Symbols"/>
              <a:cs typeface="Noto Sans Symbols"/>
            </a:endParaRPr>
          </a:p>
          <a:p>
            <a:pPr marL="914400" lvl="1" indent="-457200">
              <a:lnSpc>
                <a:spcPct val="107000"/>
              </a:lnSpc>
              <a:spcAft>
                <a:spcPts val="8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Comparison (Relational) Operators</a:t>
            </a:r>
            <a:endParaRPr lang="en-IN" sz="2000" dirty="0">
              <a:effectLst/>
              <a:latin typeface="Noto Sans Symbols"/>
              <a:ea typeface="Noto Sans Symbols"/>
              <a:cs typeface="Noto Sans Symbols"/>
            </a:endParaRPr>
          </a:p>
          <a:p>
            <a:pPr marL="914400" lvl="1" indent="-457200">
              <a:lnSpc>
                <a:spcPct val="107000"/>
              </a:lnSpc>
              <a:spcAft>
                <a:spcPts val="8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Assignment Operators</a:t>
            </a:r>
            <a:endParaRPr lang="en-IN" sz="2000" dirty="0">
              <a:effectLst/>
              <a:latin typeface="Noto Sans Symbols"/>
              <a:ea typeface="Noto Sans Symbols"/>
              <a:cs typeface="Noto Sans Symbols"/>
            </a:endParaRPr>
          </a:p>
          <a:p>
            <a:pPr marL="914400" lvl="1" indent="-457200">
              <a:lnSpc>
                <a:spcPct val="107000"/>
              </a:lnSpc>
              <a:spcAft>
                <a:spcPts val="8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Logical Operators</a:t>
            </a:r>
            <a:endParaRPr lang="en-IN" sz="2000" dirty="0">
              <a:effectLst/>
              <a:latin typeface="Noto Sans Symbols"/>
              <a:ea typeface="Noto Sans Symbols"/>
              <a:cs typeface="Noto Sans Symbols"/>
            </a:endParaRPr>
          </a:p>
          <a:p>
            <a:pPr marL="914400" lvl="1" indent="-457200">
              <a:lnSpc>
                <a:spcPct val="107000"/>
              </a:lnSpc>
              <a:spcAft>
                <a:spcPts val="8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Bitwise Operators</a:t>
            </a:r>
            <a:endParaRPr lang="en-IN" sz="2000" dirty="0">
              <a:effectLst/>
              <a:latin typeface="Noto Sans Symbols"/>
              <a:ea typeface="Noto Sans Symbols"/>
              <a:cs typeface="Noto Sans Symbols"/>
            </a:endParaRPr>
          </a:p>
          <a:p>
            <a:pPr marL="914400" lvl="1" indent="-457200">
              <a:lnSpc>
                <a:spcPct val="107000"/>
              </a:lnSpc>
              <a:spcAft>
                <a:spcPts val="8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Membership Operators</a:t>
            </a:r>
            <a:endParaRPr lang="en-IN" sz="2000" dirty="0">
              <a:effectLst/>
              <a:latin typeface="Noto Sans Symbols"/>
              <a:ea typeface="Noto Sans Symbols"/>
              <a:cs typeface="Noto Sans Symbols"/>
            </a:endParaRPr>
          </a:p>
          <a:p>
            <a:pPr marL="914400" lvl="1" indent="-457200">
              <a:lnSpc>
                <a:spcPct val="107000"/>
              </a:lnSpc>
              <a:spcAft>
                <a:spcPts val="1400"/>
              </a:spcAft>
              <a:buSzPct val="70000"/>
              <a:buFont typeface="+mj-lt"/>
              <a:buAutoNum type="arabicPeriod"/>
            </a:pPr>
            <a:r>
              <a:rPr lang="en-IN" sz="2000" dirty="0">
                <a:solidFill>
                  <a:srgbClr val="000000"/>
                </a:solidFill>
                <a:effectLst/>
                <a:latin typeface="Times New Roman" panose="02020603050405020304" pitchFamily="18" charset="0"/>
                <a:ea typeface="Times New Roman" panose="02020603050405020304" pitchFamily="18" charset="0"/>
                <a:cs typeface="Noto Sans Symbols"/>
              </a:rPr>
              <a:t>Identity Operators</a:t>
            </a:r>
            <a:endParaRPr lang="en-IN" sz="2000" dirty="0">
              <a:effectLst/>
              <a:latin typeface="Noto Sans Symbols"/>
              <a:ea typeface="Noto Sans Symbols"/>
              <a:cs typeface="Noto Sans Symbols"/>
            </a:endParaRPr>
          </a:p>
          <a:p>
            <a:pPr marL="0" indent="0">
              <a:buNone/>
            </a:pPr>
            <a:endParaRPr lang="en-IN" sz="3200" dirty="0"/>
          </a:p>
        </p:txBody>
      </p:sp>
    </p:spTree>
    <p:extLst>
      <p:ext uri="{BB962C8B-B14F-4D97-AF65-F5344CB8AC3E}">
        <p14:creationId xmlns:p14="http://schemas.microsoft.com/office/powerpoint/2010/main" val="1996333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BE9FA-EC6E-8574-1324-33816A3CC2FC}"/>
              </a:ext>
            </a:extLst>
          </p:cNvPr>
          <p:cNvSpPr txBox="1"/>
          <p:nvPr/>
        </p:nvSpPr>
        <p:spPr>
          <a:xfrm>
            <a:off x="142043" y="177553"/>
            <a:ext cx="11878321" cy="1736757"/>
          </a:xfrm>
          <a:prstGeom prst="rect">
            <a:avLst/>
          </a:prstGeom>
          <a:noFill/>
        </p:spPr>
        <p:txBody>
          <a:bodyPr wrap="square">
            <a:spAutoFit/>
          </a:bodyPr>
          <a:lstStyle/>
          <a:p>
            <a:pPr algn="just">
              <a:lnSpc>
                <a:spcPct val="107000"/>
              </a:lnSpc>
              <a:spcBef>
                <a:spcPts val="200"/>
              </a:spcBef>
            </a:pPr>
            <a:r>
              <a:rPr lang="en-IN" sz="2400" b="1" u="sng"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Arithmetic Operators:</a:t>
            </a:r>
            <a:r>
              <a:rPr lang="en-IN" sz="2400" b="1"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 </a:t>
            </a:r>
          </a:p>
          <a:p>
            <a:pPr algn="just">
              <a:lnSpc>
                <a:spcPct val="107000"/>
              </a:lnSpc>
              <a:spcBef>
                <a:spcPts val="200"/>
              </a:spcBef>
            </a:pPr>
            <a:r>
              <a:rPr lang="en-IN" sz="1800"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Python arithmetic operators are used to perform mathematical operations on numerical values. These operations are Addition, Subtraction, Multiplication, Division, Modulus, Exponents and Floor Division.</a:t>
            </a:r>
          </a:p>
          <a:p>
            <a:pPr algn="just">
              <a:lnSpc>
                <a:spcPct val="107000"/>
              </a:lnSpc>
              <a:spcBef>
                <a:spcPts val="200"/>
              </a:spcBef>
            </a:pPr>
            <a:endParaRPr lang="en-IN" dirty="0">
              <a:solidFill>
                <a:srgbClr val="000000"/>
              </a:solidFill>
              <a:latin typeface="Times New Roman" panose="02020603050405020304" pitchFamily="18" charset="0"/>
              <a:ea typeface="Times New Roman" panose="02020603050405020304" pitchFamily="18" charset="0"/>
              <a:cs typeface="Kartika" panose="02020503030404060203" pitchFamily="18" charset="0"/>
            </a:endParaRPr>
          </a:p>
          <a:p>
            <a:pPr algn="just">
              <a:lnSpc>
                <a:spcPct val="107000"/>
              </a:lnSpc>
              <a:spcBef>
                <a:spcPts val="200"/>
              </a:spcBef>
            </a:pPr>
            <a:endParaRPr lang="en-IN" sz="1800" dirty="0">
              <a:solidFill>
                <a:srgbClr val="2F5496"/>
              </a:solidFill>
              <a:effectLst/>
              <a:latin typeface="Calibri Light" panose="020F0302020204030204" pitchFamily="34" charset="0"/>
              <a:ea typeface="Times New Roman" panose="02020603050405020304" pitchFamily="18" charset="0"/>
              <a:cs typeface="Kartika" panose="02020503030404060203" pitchFamily="18" charset="0"/>
            </a:endParaRPr>
          </a:p>
        </p:txBody>
      </p:sp>
      <p:graphicFrame>
        <p:nvGraphicFramePr>
          <p:cNvPr id="6" name="Table 5">
            <a:extLst>
              <a:ext uri="{FF2B5EF4-FFF2-40B4-BE49-F238E27FC236}">
                <a16:creationId xmlns:a16="http://schemas.microsoft.com/office/drawing/2014/main" id="{464EB4C8-F1BC-F3DD-30CA-F7CE90963781}"/>
              </a:ext>
            </a:extLst>
          </p:cNvPr>
          <p:cNvGraphicFramePr>
            <a:graphicFrameLocks noGrp="1"/>
          </p:cNvGraphicFramePr>
          <p:nvPr>
            <p:extLst>
              <p:ext uri="{D42A27DB-BD31-4B8C-83A1-F6EECF244321}">
                <p14:modId xmlns:p14="http://schemas.microsoft.com/office/powerpoint/2010/main" val="3279331794"/>
              </p:ext>
            </p:extLst>
          </p:nvPr>
        </p:nvGraphicFramePr>
        <p:xfrm>
          <a:off x="665826" y="1473692"/>
          <a:ext cx="7661429" cy="4616392"/>
        </p:xfrm>
        <a:graphic>
          <a:graphicData uri="http://schemas.openxmlformats.org/drawingml/2006/table">
            <a:tbl>
              <a:tblPr bandRow="1">
                <a:tableStyleId>{5940675A-B579-460E-94D1-54222C63F5DA}</a:tableStyleId>
              </a:tblPr>
              <a:tblGrid>
                <a:gridCol w="1529235">
                  <a:extLst>
                    <a:ext uri="{9D8B030D-6E8A-4147-A177-3AD203B41FA5}">
                      <a16:colId xmlns:a16="http://schemas.microsoft.com/office/drawing/2014/main" val="473142015"/>
                    </a:ext>
                  </a:extLst>
                </a:gridCol>
                <a:gridCol w="3442572">
                  <a:extLst>
                    <a:ext uri="{9D8B030D-6E8A-4147-A177-3AD203B41FA5}">
                      <a16:colId xmlns:a16="http://schemas.microsoft.com/office/drawing/2014/main" val="3775941899"/>
                    </a:ext>
                  </a:extLst>
                </a:gridCol>
                <a:gridCol w="2689622">
                  <a:extLst>
                    <a:ext uri="{9D8B030D-6E8A-4147-A177-3AD203B41FA5}">
                      <a16:colId xmlns:a16="http://schemas.microsoft.com/office/drawing/2014/main" val="2952185836"/>
                    </a:ext>
                  </a:extLst>
                </a:gridCol>
              </a:tblGrid>
              <a:tr h="577049">
                <a:tc>
                  <a:txBody>
                    <a:bodyPr/>
                    <a:lstStyle/>
                    <a:p>
                      <a:pPr algn="l">
                        <a:lnSpc>
                          <a:spcPct val="107000"/>
                        </a:lnSpc>
                        <a:spcAft>
                          <a:spcPts val="800"/>
                        </a:spcAft>
                      </a:pPr>
                      <a:r>
                        <a:rPr lang="en-IN" sz="2000" dirty="0">
                          <a:effectLst/>
                        </a:rPr>
                        <a:t>Operator</a:t>
                      </a:r>
                      <a:endParaRPr lang="en-IN" sz="2000" dirty="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2000" dirty="0">
                          <a:effectLst/>
                        </a:rPr>
                        <a:t>Name</a:t>
                      </a:r>
                      <a:endParaRPr lang="en-IN" sz="2000" dirty="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2000" dirty="0">
                          <a:effectLst/>
                        </a:rPr>
                        <a:t>Example</a:t>
                      </a:r>
                      <a:endParaRPr lang="en-IN" sz="20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3054814653"/>
                  </a:ext>
                </a:extLst>
              </a:tr>
              <a:tr h="577049">
                <a:tc>
                  <a:txBody>
                    <a:bodyPr/>
                    <a:lstStyle/>
                    <a:p>
                      <a:pPr>
                        <a:lnSpc>
                          <a:spcPct val="107000"/>
                        </a:lnSpc>
                        <a:spcAft>
                          <a:spcPts val="800"/>
                        </a:spcAft>
                      </a:pPr>
                      <a:r>
                        <a:rPr lang="en-IN" sz="2000">
                          <a:effectLst/>
                        </a:rPr>
                        <a: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dirty="0">
                          <a:effectLst/>
                        </a:rPr>
                        <a:t>Addition</a:t>
                      </a:r>
                      <a:endParaRPr lang="en-IN" sz="20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10 + 20 = 30</a:t>
                      </a:r>
                      <a:endParaRPr lang="en-IN" sz="20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145994779"/>
                  </a:ext>
                </a:extLst>
              </a:tr>
              <a:tr h="577049">
                <a:tc>
                  <a:txBody>
                    <a:bodyPr/>
                    <a:lstStyle/>
                    <a:p>
                      <a:pPr>
                        <a:lnSpc>
                          <a:spcPct val="107000"/>
                        </a:lnSpc>
                        <a:spcAft>
                          <a:spcPts val="800"/>
                        </a:spcAft>
                      </a:pPr>
                      <a:r>
                        <a:rPr lang="en-IN" sz="2000" dirty="0">
                          <a:effectLst/>
                        </a:rPr>
                        <a:t>-</a:t>
                      </a:r>
                      <a:endParaRPr lang="en-IN" sz="20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dirty="0">
                          <a:effectLst/>
                        </a:rPr>
                        <a:t>Subtraction</a:t>
                      </a:r>
                      <a:endParaRPr lang="en-IN" sz="20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20 – 10 = 10</a:t>
                      </a:r>
                      <a:endParaRPr lang="en-IN" sz="20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614574440"/>
                  </a:ext>
                </a:extLst>
              </a:tr>
              <a:tr h="577049">
                <a:tc>
                  <a:txBody>
                    <a:bodyPr/>
                    <a:lstStyle/>
                    <a:p>
                      <a:pPr>
                        <a:lnSpc>
                          <a:spcPct val="107000"/>
                        </a:lnSpc>
                        <a:spcAft>
                          <a:spcPts val="800"/>
                        </a:spcAft>
                      </a:pPr>
                      <a:r>
                        <a:rPr lang="en-IN" sz="2000">
                          <a:effectLst/>
                        </a:rPr>
                        <a: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dirty="0">
                          <a:effectLst/>
                        </a:rPr>
                        <a:t>Multiplication</a:t>
                      </a:r>
                      <a:endParaRPr lang="en-IN" sz="20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10 * 20 = 200</a:t>
                      </a:r>
                      <a:endParaRPr lang="en-IN" sz="20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380642953"/>
                  </a:ext>
                </a:extLst>
              </a:tr>
              <a:tr h="577049">
                <a:tc>
                  <a:txBody>
                    <a:bodyPr/>
                    <a:lstStyle/>
                    <a:p>
                      <a:pPr>
                        <a:lnSpc>
                          <a:spcPct val="107000"/>
                        </a:lnSpc>
                        <a:spcAft>
                          <a:spcPts val="800"/>
                        </a:spcAft>
                      </a:pPr>
                      <a:r>
                        <a:rPr lang="en-IN" sz="2000">
                          <a:effectLst/>
                        </a:rPr>
                        <a: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Division</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20 / 10 = 2</a:t>
                      </a:r>
                      <a:endParaRPr lang="en-IN" sz="20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781153634"/>
                  </a:ext>
                </a:extLst>
              </a:tr>
              <a:tr h="577049">
                <a:tc>
                  <a:txBody>
                    <a:bodyPr/>
                    <a:lstStyle/>
                    <a:p>
                      <a:pPr>
                        <a:lnSpc>
                          <a:spcPct val="107000"/>
                        </a:lnSpc>
                        <a:spcAft>
                          <a:spcPts val="800"/>
                        </a:spcAft>
                      </a:pPr>
                      <a:r>
                        <a:rPr lang="en-IN" sz="2000">
                          <a:effectLst/>
                        </a:rPr>
                        <a: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Modulus</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22 % 10 = 2</a:t>
                      </a:r>
                      <a:endParaRPr lang="en-IN" sz="20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655202308"/>
                  </a:ext>
                </a:extLst>
              </a:tr>
              <a:tr h="577049">
                <a:tc>
                  <a:txBody>
                    <a:bodyPr/>
                    <a:lstStyle/>
                    <a:p>
                      <a:pPr>
                        <a:lnSpc>
                          <a:spcPct val="107000"/>
                        </a:lnSpc>
                        <a:spcAft>
                          <a:spcPts val="800"/>
                        </a:spcAft>
                      </a:pPr>
                      <a:r>
                        <a:rPr lang="en-IN" sz="2000">
                          <a:effectLst/>
                        </a:rPr>
                        <a: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Exponent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dirty="0">
                          <a:effectLst/>
                        </a:rPr>
                        <a:t>4**2 = 16</a:t>
                      </a:r>
                      <a:endParaRPr lang="en-IN" sz="20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993207139"/>
                  </a:ext>
                </a:extLst>
              </a:tr>
              <a:tr h="577049">
                <a:tc>
                  <a:txBody>
                    <a:bodyPr/>
                    <a:lstStyle/>
                    <a:p>
                      <a:pPr>
                        <a:lnSpc>
                          <a:spcPct val="107000"/>
                        </a:lnSpc>
                        <a:spcAft>
                          <a:spcPts val="800"/>
                        </a:spcAft>
                      </a:pPr>
                      <a:r>
                        <a:rPr lang="en-IN" sz="2000">
                          <a:effectLst/>
                        </a:rPr>
                        <a:t>//</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a:effectLst/>
                        </a:rPr>
                        <a:t>Floor Division</a:t>
                      </a:r>
                      <a:endParaRPr lang="en-IN" sz="20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2000" dirty="0">
                          <a:effectLst/>
                        </a:rPr>
                        <a:t>9//2 = 4</a:t>
                      </a:r>
                      <a:endParaRPr lang="en-IN" sz="20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347742563"/>
                  </a:ext>
                </a:extLst>
              </a:tr>
            </a:tbl>
          </a:graphicData>
        </a:graphic>
      </p:graphicFrame>
    </p:spTree>
    <p:extLst>
      <p:ext uri="{BB962C8B-B14F-4D97-AF65-F5344CB8AC3E}">
        <p14:creationId xmlns:p14="http://schemas.microsoft.com/office/powerpoint/2010/main" val="614065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BD49F-D980-AADD-AC9E-4033EA6E68C2}"/>
              </a:ext>
            </a:extLst>
          </p:cNvPr>
          <p:cNvSpPr>
            <a:spLocks noGrp="1"/>
          </p:cNvSpPr>
          <p:nvPr>
            <p:ph idx="1"/>
          </p:nvPr>
        </p:nvSpPr>
        <p:spPr>
          <a:xfrm>
            <a:off x="545237" y="1253331"/>
            <a:ext cx="10515600" cy="4351338"/>
          </a:xfrm>
        </p:spPr>
        <p:txBody>
          <a:bodyPr>
            <a:normAutofit fontScale="92500" lnSpcReduction="10000"/>
          </a:bodyPr>
          <a:lstStyle/>
          <a:p>
            <a:pPr marL="0" indent="0">
              <a:lnSpc>
                <a:spcPct val="107000"/>
              </a:lnSpc>
              <a:spcBef>
                <a:spcPts val="200"/>
              </a:spcBef>
              <a:buNone/>
            </a:pPr>
            <a:r>
              <a:rPr lang="en-IN" sz="1800" b="1"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Example: </a:t>
            </a:r>
          </a:p>
          <a:p>
            <a:pPr marL="0" indent="0">
              <a:lnSpc>
                <a:spcPct val="107000"/>
              </a:lnSpc>
              <a:spcBef>
                <a:spcPts val="200"/>
              </a:spcBef>
              <a:buNone/>
            </a:pPr>
            <a:r>
              <a:rPr lang="en-IN" sz="1800" b="1" dirty="0">
                <a:solidFill>
                  <a:srgbClr val="1F3763"/>
                </a:solidFill>
                <a:effectLst/>
                <a:latin typeface="Calibri Light" panose="020F0302020204030204" pitchFamily="34" charset="0"/>
                <a:ea typeface="Times New Roman" panose="02020603050405020304" pitchFamily="18" charset="0"/>
                <a:cs typeface="Kartika" panose="02020503030404060203" pitchFamily="18" charset="0"/>
              </a:rPr>
              <a:t>	 a = 21</a:t>
            </a:r>
          </a:p>
          <a:p>
            <a:pPr marL="0" indent="0">
              <a:lnSpc>
                <a:spcPct val="107000"/>
              </a:lnSpc>
              <a:spcBef>
                <a:spcPts val="200"/>
              </a:spcBef>
              <a:buNone/>
            </a:pPr>
            <a:r>
              <a:rPr lang="en-IN" sz="1800" b="1" dirty="0">
                <a:solidFill>
                  <a:srgbClr val="1F3763"/>
                </a:solidFill>
                <a:effectLst/>
                <a:latin typeface="Calibri Light" panose="020F0302020204030204" pitchFamily="34" charset="0"/>
                <a:ea typeface="Times New Roman" panose="02020603050405020304" pitchFamily="18" charset="0"/>
                <a:cs typeface="Kartika" panose="02020503030404060203" pitchFamily="18" charset="0"/>
              </a:rPr>
              <a:t>                    b = 10</a:t>
            </a: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Addition</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Subtraction</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Multiplication</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Division</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Modulus</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Exponent</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Floor Division</a:t>
            </a:r>
            <a:endParaRPr lang="en-IN" sz="1800" dirty="0">
              <a:effectLst/>
              <a:latin typeface="Calibri" panose="020F0502020204030204" pitchFamily="34" charset="0"/>
              <a:ea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162100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A4C2F-C585-5562-03CE-5B02A27C92C8}"/>
              </a:ext>
            </a:extLst>
          </p:cNvPr>
          <p:cNvSpPr>
            <a:spLocks noGrp="1"/>
          </p:cNvSpPr>
          <p:nvPr>
            <p:ph idx="1"/>
          </p:nvPr>
        </p:nvSpPr>
        <p:spPr>
          <a:xfrm>
            <a:off x="270028" y="201010"/>
            <a:ext cx="11670437" cy="6474997"/>
          </a:xfrm>
        </p:spPr>
        <p:txBody>
          <a:bodyPr/>
          <a:lstStyle/>
          <a:p>
            <a:pPr marL="0" indent="0">
              <a:buNone/>
            </a:pPr>
            <a:r>
              <a:rPr lang="en-IN" sz="2400" b="1" u="sng" dirty="0">
                <a:solidFill>
                  <a:srgbClr val="000000"/>
                </a:solidFill>
                <a:effectLst/>
                <a:latin typeface="Times New Roman" panose="02020603050405020304" pitchFamily="18" charset="0"/>
                <a:ea typeface="Times New Roman" panose="02020603050405020304" pitchFamily="18" charset="0"/>
              </a:rPr>
              <a:t>Comparison Operators: </a:t>
            </a:r>
          </a:p>
          <a:p>
            <a:pPr marL="0" indent="0">
              <a:buNone/>
            </a:pPr>
            <a:r>
              <a:rPr lang="en-IN" sz="1800" dirty="0">
                <a:solidFill>
                  <a:srgbClr val="000000"/>
                </a:solidFill>
                <a:effectLst/>
                <a:latin typeface="Times New Roman" panose="02020603050405020304" pitchFamily="18" charset="0"/>
                <a:ea typeface="Times New Roman" panose="02020603050405020304" pitchFamily="18" charset="0"/>
              </a:rPr>
              <a:t>Python comparison operators compare the values on either sides of them and decide the relation among them. They are also called relational operators. These operators are equal, not equal, greater than, less than, greater than or equal to and less than or equal to</a:t>
            </a:r>
            <a:r>
              <a:rPr lang="en-IN" sz="1800" dirty="0">
                <a:solidFill>
                  <a:srgbClr val="000000"/>
                </a:solidFill>
                <a:effectLst/>
                <a:latin typeface="Arial" panose="020B0604020202020204" pitchFamily="34" charset="0"/>
                <a:ea typeface="Arial" panose="020B0604020202020204" pitchFamily="34" charset="0"/>
              </a:rPr>
              <a:t>.</a:t>
            </a:r>
          </a:p>
          <a:p>
            <a:pPr marL="0" indent="0">
              <a:buNone/>
            </a:pPr>
            <a:endParaRPr lang="en-IN" sz="1800" dirty="0">
              <a:solidFill>
                <a:srgbClr val="000000"/>
              </a:solidFill>
              <a:latin typeface="Arial" panose="020B0604020202020204" pitchFamily="34" charset="0"/>
            </a:endParaRPr>
          </a:p>
          <a:p>
            <a:pPr marL="0" indent="0">
              <a:buNone/>
            </a:pPr>
            <a:endParaRPr lang="en-IN" dirty="0"/>
          </a:p>
        </p:txBody>
      </p:sp>
      <p:graphicFrame>
        <p:nvGraphicFramePr>
          <p:cNvPr id="4" name="Table 3">
            <a:extLst>
              <a:ext uri="{FF2B5EF4-FFF2-40B4-BE49-F238E27FC236}">
                <a16:creationId xmlns:a16="http://schemas.microsoft.com/office/drawing/2014/main" id="{6916E936-CD24-F7E6-7C90-8D2CF6D30F2B}"/>
              </a:ext>
            </a:extLst>
          </p:cNvPr>
          <p:cNvGraphicFramePr>
            <a:graphicFrameLocks noGrp="1"/>
          </p:cNvGraphicFramePr>
          <p:nvPr>
            <p:extLst>
              <p:ext uri="{D42A27DB-BD31-4B8C-83A1-F6EECF244321}">
                <p14:modId xmlns:p14="http://schemas.microsoft.com/office/powerpoint/2010/main" val="1704441785"/>
              </p:ext>
            </p:extLst>
          </p:nvPr>
        </p:nvGraphicFramePr>
        <p:xfrm>
          <a:off x="379631" y="1770507"/>
          <a:ext cx="7352819" cy="4230800"/>
        </p:xfrm>
        <a:graphic>
          <a:graphicData uri="http://schemas.openxmlformats.org/drawingml/2006/table">
            <a:tbl>
              <a:tblPr bandRow="1">
                <a:tableStyleId>{5940675A-B579-460E-94D1-54222C63F5DA}</a:tableStyleId>
              </a:tblPr>
              <a:tblGrid>
                <a:gridCol w="1468108">
                  <a:extLst>
                    <a:ext uri="{9D8B030D-6E8A-4147-A177-3AD203B41FA5}">
                      <a16:colId xmlns:a16="http://schemas.microsoft.com/office/drawing/2014/main" val="3494360233"/>
                    </a:ext>
                  </a:extLst>
                </a:gridCol>
                <a:gridCol w="3303682">
                  <a:extLst>
                    <a:ext uri="{9D8B030D-6E8A-4147-A177-3AD203B41FA5}">
                      <a16:colId xmlns:a16="http://schemas.microsoft.com/office/drawing/2014/main" val="264051579"/>
                    </a:ext>
                  </a:extLst>
                </a:gridCol>
                <a:gridCol w="2581029">
                  <a:extLst>
                    <a:ext uri="{9D8B030D-6E8A-4147-A177-3AD203B41FA5}">
                      <a16:colId xmlns:a16="http://schemas.microsoft.com/office/drawing/2014/main" val="3659400076"/>
                    </a:ext>
                  </a:extLst>
                </a:gridCol>
              </a:tblGrid>
              <a:tr h="604400">
                <a:tc>
                  <a:txBody>
                    <a:bodyPr/>
                    <a:lstStyle/>
                    <a:p>
                      <a:pPr algn="l">
                        <a:lnSpc>
                          <a:spcPct val="107000"/>
                        </a:lnSpc>
                        <a:spcAft>
                          <a:spcPts val="800"/>
                        </a:spcAft>
                      </a:pPr>
                      <a:r>
                        <a:rPr lang="en-IN" sz="1800">
                          <a:effectLst/>
                        </a:rPr>
                        <a:t>Operator</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1800">
                          <a:effectLst/>
                        </a:rPr>
                        <a:t>Name</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1800" dirty="0">
                          <a:effectLst/>
                        </a:rPr>
                        <a:t>Example</a:t>
                      </a:r>
                      <a:endParaRPr lang="en-IN" sz="18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2928000130"/>
                  </a:ext>
                </a:extLst>
              </a:tr>
              <a:tr h="604400">
                <a:tc>
                  <a:txBody>
                    <a:bodyPr/>
                    <a:lstStyle/>
                    <a:p>
                      <a:pPr>
                        <a:lnSpc>
                          <a:spcPct val="107000"/>
                        </a:lnSpc>
                        <a:spcAft>
                          <a:spcPts val="800"/>
                        </a:spcAft>
                      </a:pPr>
                      <a:r>
                        <a:rPr lang="en-IN" sz="1800">
                          <a:effectLst/>
                        </a:rPr>
                        <a: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Equal</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4 == 5 is not true.</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874193319"/>
                  </a:ext>
                </a:extLst>
              </a:tr>
              <a:tr h="604400">
                <a:tc>
                  <a:txBody>
                    <a:bodyPr/>
                    <a:lstStyle/>
                    <a:p>
                      <a:pPr>
                        <a:lnSpc>
                          <a:spcPct val="107000"/>
                        </a:lnSpc>
                        <a:spcAft>
                          <a:spcPts val="800"/>
                        </a:spcAft>
                      </a:pPr>
                      <a:r>
                        <a:rPr lang="en-IN" sz="1800">
                          <a:effectLst/>
                        </a:rPr>
                        <a: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dirty="0">
                          <a:effectLst/>
                        </a:rPr>
                        <a:t>Not Equal</a:t>
                      </a:r>
                      <a:endParaRPr lang="en-IN" sz="18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4 != 5 is true.</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2818472227"/>
                  </a:ext>
                </a:extLst>
              </a:tr>
              <a:tr h="604400">
                <a:tc>
                  <a:txBody>
                    <a:bodyPr/>
                    <a:lstStyle/>
                    <a:p>
                      <a:pPr>
                        <a:lnSpc>
                          <a:spcPct val="107000"/>
                        </a:lnSpc>
                        <a:spcAft>
                          <a:spcPts val="800"/>
                        </a:spcAft>
                      </a:pPr>
                      <a:r>
                        <a:rPr lang="en-IN" sz="1800">
                          <a:effectLst/>
                        </a:rPr>
                        <a:t>&gt; </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Greater Than</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4 &gt; 5 is not true.</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3538995268"/>
                  </a:ext>
                </a:extLst>
              </a:tr>
              <a:tr h="604400">
                <a:tc>
                  <a:txBody>
                    <a:bodyPr/>
                    <a:lstStyle/>
                    <a:p>
                      <a:pPr>
                        <a:lnSpc>
                          <a:spcPct val="107000"/>
                        </a:lnSpc>
                        <a:spcAft>
                          <a:spcPts val="800"/>
                        </a:spcAft>
                      </a:pPr>
                      <a:r>
                        <a:rPr lang="en-IN" sz="1800">
                          <a:effectLst/>
                        </a:rPr>
                        <a:t>&lt; </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Less Than</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4 &lt; 5 is true.</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587570173"/>
                  </a:ext>
                </a:extLst>
              </a:tr>
              <a:tr h="604400">
                <a:tc>
                  <a:txBody>
                    <a:bodyPr/>
                    <a:lstStyle/>
                    <a:p>
                      <a:pPr>
                        <a:lnSpc>
                          <a:spcPct val="107000"/>
                        </a:lnSpc>
                        <a:spcAft>
                          <a:spcPts val="800"/>
                        </a:spcAft>
                      </a:pPr>
                      <a:r>
                        <a:rPr lang="en-IN" sz="1800">
                          <a:effectLst/>
                        </a:rPr>
                        <a:t>&gt;=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Greater than or Equal to</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4 &gt;= 5 is not true.</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347750096"/>
                  </a:ext>
                </a:extLst>
              </a:tr>
              <a:tr h="604400">
                <a:tc>
                  <a:txBody>
                    <a:bodyPr/>
                    <a:lstStyle/>
                    <a:p>
                      <a:pPr>
                        <a:lnSpc>
                          <a:spcPct val="107000"/>
                        </a:lnSpc>
                        <a:spcAft>
                          <a:spcPts val="800"/>
                        </a:spcAft>
                      </a:pPr>
                      <a:r>
                        <a:rPr lang="en-IN" sz="1800">
                          <a:effectLst/>
                        </a:rPr>
                        <a:t>&lt;=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Less than or Equal to</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dirty="0">
                          <a:effectLst/>
                        </a:rPr>
                        <a:t>4 &lt;= 5 is true.</a:t>
                      </a:r>
                      <a:endParaRPr lang="en-IN" sz="18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3858809376"/>
                  </a:ext>
                </a:extLst>
              </a:tr>
            </a:tbl>
          </a:graphicData>
        </a:graphic>
      </p:graphicFrame>
    </p:spTree>
    <p:extLst>
      <p:ext uri="{BB962C8B-B14F-4D97-AF65-F5344CB8AC3E}">
        <p14:creationId xmlns:p14="http://schemas.microsoft.com/office/powerpoint/2010/main" val="808934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121DDCC-7F52-6D24-651F-BFEE72D416A3}"/>
              </a:ext>
            </a:extLst>
          </p:cNvPr>
          <p:cNvSpPr>
            <a:spLocks noGrp="1"/>
          </p:cNvSpPr>
          <p:nvPr>
            <p:ph idx="1"/>
          </p:nvPr>
        </p:nvSpPr>
        <p:spPr>
          <a:xfrm>
            <a:off x="376561" y="1253331"/>
            <a:ext cx="10515600" cy="4351338"/>
          </a:xfrm>
        </p:spPr>
        <p:txBody>
          <a:bodyPr/>
          <a:lstStyle/>
          <a:p>
            <a:pPr marL="0" indent="0">
              <a:lnSpc>
                <a:spcPct val="107000"/>
              </a:lnSpc>
              <a:spcBef>
                <a:spcPts val="200"/>
              </a:spcBef>
              <a:buNone/>
            </a:pPr>
            <a:r>
              <a:rPr lang="en-IN" sz="1800" b="1" u="sng"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Example:</a:t>
            </a:r>
            <a:r>
              <a:rPr lang="en-IN" sz="1800" b="1"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  a = 4</a:t>
            </a:r>
            <a:endParaRPr lang="en-IN" sz="1800" b="1" dirty="0">
              <a:solidFill>
                <a:srgbClr val="1F3763"/>
              </a:solidFill>
              <a:effectLst/>
              <a:latin typeface="Calibri Light" panose="020F0302020204030204" pitchFamily="34" charset="0"/>
              <a:ea typeface="Times New Roman" panose="02020603050405020304" pitchFamily="18" charset="0"/>
              <a:cs typeface="Kartika" panose="02020503030404060203"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b = 5</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Equal</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 b : ", a != b)  # Not Equal</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&gt; b : ", a &gt; b)  # Greater Than</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&lt; b : ", a &lt; b)  # Less Than</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&gt;= b : ", a &gt;= b)  # Greater Than or Equal to</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rPr>
              <a:t>                   print ("a &lt;= b : ", a &lt;= b)  # Less Than or Equal to</a:t>
            </a:r>
            <a:endParaRPr lang="en-IN" sz="1800" dirty="0">
              <a:effectLst/>
              <a:latin typeface="Calibri" panose="020F0502020204030204" pitchFamily="34" charset="0"/>
              <a:ea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581682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CE95E-4FDB-FE6F-D374-54B7D1C014D1}"/>
              </a:ext>
            </a:extLst>
          </p:cNvPr>
          <p:cNvSpPr>
            <a:spLocks noGrp="1"/>
          </p:cNvSpPr>
          <p:nvPr>
            <p:ph idx="1"/>
          </p:nvPr>
        </p:nvSpPr>
        <p:spPr>
          <a:xfrm>
            <a:off x="292963" y="204186"/>
            <a:ext cx="11754035" cy="6498455"/>
          </a:xfrm>
        </p:spPr>
        <p:txBody>
          <a:bodyPr/>
          <a:lstStyle/>
          <a:p>
            <a:pPr marL="0" indent="0">
              <a:buNone/>
            </a:pPr>
            <a:r>
              <a:rPr lang="en-IN" sz="2400" b="1" u="sng" dirty="0">
                <a:solidFill>
                  <a:srgbClr val="000000"/>
                </a:solidFill>
                <a:effectLst/>
                <a:latin typeface="Times New Roman" panose="02020603050405020304" pitchFamily="18" charset="0"/>
                <a:ea typeface="Times New Roman" panose="02020603050405020304" pitchFamily="18" charset="0"/>
                <a:cs typeface="Kartika" panose="02020503030404060203" pitchFamily="18" charset="0"/>
              </a:rPr>
              <a:t>Assignment Operators: </a:t>
            </a:r>
          </a:p>
          <a:p>
            <a:pPr marL="0" indent="0">
              <a:buNone/>
            </a:pPr>
            <a:r>
              <a:rPr lang="en-IN" sz="20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Python assignment operators are used to assign values to variables. These operators include simple assignment operator, addition assign, subtraction assign, multiplication assign, division and assign operators etc.</a:t>
            </a:r>
          </a:p>
          <a:p>
            <a:pPr marL="0" indent="0">
              <a:buNone/>
            </a:pPr>
            <a:endParaRPr lang="en-IN"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sz="2000"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4" name="Table 3">
            <a:extLst>
              <a:ext uri="{FF2B5EF4-FFF2-40B4-BE49-F238E27FC236}">
                <a16:creationId xmlns:a16="http://schemas.microsoft.com/office/drawing/2014/main" id="{E395BA61-A9E2-A79D-DA26-2357A517133C}"/>
              </a:ext>
            </a:extLst>
          </p:cNvPr>
          <p:cNvGraphicFramePr>
            <a:graphicFrameLocks noGrp="1"/>
          </p:cNvGraphicFramePr>
          <p:nvPr>
            <p:extLst>
              <p:ext uri="{D42A27DB-BD31-4B8C-83A1-F6EECF244321}">
                <p14:modId xmlns:p14="http://schemas.microsoft.com/office/powerpoint/2010/main" val="180342837"/>
              </p:ext>
            </p:extLst>
          </p:nvPr>
        </p:nvGraphicFramePr>
        <p:xfrm>
          <a:off x="523782" y="1402672"/>
          <a:ext cx="7643673" cy="5156747"/>
        </p:xfrm>
        <a:graphic>
          <a:graphicData uri="http://schemas.openxmlformats.org/drawingml/2006/table">
            <a:tbl>
              <a:tblPr bandRow="1">
                <a:tableStyleId>{5940675A-B579-460E-94D1-54222C63F5DA}</a:tableStyleId>
              </a:tblPr>
              <a:tblGrid>
                <a:gridCol w="1525936">
                  <a:extLst>
                    <a:ext uri="{9D8B030D-6E8A-4147-A177-3AD203B41FA5}">
                      <a16:colId xmlns:a16="http://schemas.microsoft.com/office/drawing/2014/main" val="950965461"/>
                    </a:ext>
                  </a:extLst>
                </a:gridCol>
                <a:gridCol w="3434228">
                  <a:extLst>
                    <a:ext uri="{9D8B030D-6E8A-4147-A177-3AD203B41FA5}">
                      <a16:colId xmlns:a16="http://schemas.microsoft.com/office/drawing/2014/main" val="730113974"/>
                    </a:ext>
                  </a:extLst>
                </a:gridCol>
                <a:gridCol w="2683509">
                  <a:extLst>
                    <a:ext uri="{9D8B030D-6E8A-4147-A177-3AD203B41FA5}">
                      <a16:colId xmlns:a16="http://schemas.microsoft.com/office/drawing/2014/main" val="3528389980"/>
                    </a:ext>
                  </a:extLst>
                </a:gridCol>
              </a:tblGrid>
              <a:tr h="384536">
                <a:tc>
                  <a:txBody>
                    <a:bodyPr/>
                    <a:lstStyle/>
                    <a:p>
                      <a:pPr algn="l">
                        <a:lnSpc>
                          <a:spcPct val="107000"/>
                        </a:lnSpc>
                        <a:spcAft>
                          <a:spcPts val="800"/>
                        </a:spcAft>
                      </a:pPr>
                      <a:r>
                        <a:rPr lang="en-IN" sz="1600">
                          <a:effectLst/>
                        </a:rPr>
                        <a:t>Operator</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1600">
                          <a:effectLst/>
                        </a:rPr>
                        <a:t>Name</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1600" dirty="0">
                          <a:effectLst/>
                        </a:rPr>
                        <a:t>Example</a:t>
                      </a:r>
                      <a:endParaRPr lang="en-IN" sz="16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816056283"/>
                  </a:ext>
                </a:extLst>
              </a:tr>
              <a:tr h="384536">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Assignment Operator</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 = 10</a:t>
                      </a:r>
                      <a:endParaRPr lang="en-IN" sz="16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824553837"/>
                  </a:ext>
                </a:extLst>
              </a:tr>
              <a:tr h="64525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dirty="0">
                          <a:effectLst/>
                        </a:rPr>
                        <a:t>Addition Assignment</a:t>
                      </a:r>
                      <a:endParaRPr lang="en-IN" sz="16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 += 5 (Same as a = a + 5)</a:t>
                      </a:r>
                      <a:endParaRPr lang="en-IN" sz="16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307310236"/>
                  </a:ext>
                </a:extLst>
              </a:tr>
              <a:tr h="56353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Subtraction Assignment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 -= 5 (Same as a = a - 5)</a:t>
                      </a:r>
                      <a:endParaRPr lang="en-IN" sz="16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4145707585"/>
                  </a:ext>
                </a:extLst>
              </a:tr>
              <a:tr h="64525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Multiplication Assignment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 *= 5 (Same as a = a * 5)</a:t>
                      </a:r>
                      <a:endParaRPr lang="en-IN" sz="16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411513024"/>
                  </a:ext>
                </a:extLst>
              </a:tr>
              <a:tr h="56353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dirty="0">
                          <a:effectLst/>
                        </a:rPr>
                        <a:t>Division Assignment</a:t>
                      </a:r>
                      <a:endParaRPr lang="en-IN" sz="16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dirty="0">
                          <a:effectLst/>
                        </a:rPr>
                        <a:t>a /= 5 (Same as a = a / 5)</a:t>
                      </a:r>
                      <a:endParaRPr lang="en-IN" sz="16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339398335"/>
                  </a:ext>
                </a:extLst>
              </a:tr>
              <a:tr h="64525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Remainder Assignment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 %= 5 (Same as a = a % 5)</a:t>
                      </a:r>
                      <a:endParaRPr lang="en-IN" sz="16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309212674"/>
                  </a:ext>
                </a:extLst>
              </a:tr>
              <a:tr h="64525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Exponent Assignment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a **= 2 (Same as a = a ** 2)</a:t>
                      </a:r>
                      <a:endParaRPr lang="en-IN" sz="16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729223446"/>
                  </a:ext>
                </a:extLst>
              </a:tr>
              <a:tr h="645255">
                <a:tc>
                  <a:txBody>
                    <a:bodyPr/>
                    <a:lstStyle/>
                    <a:p>
                      <a:pPr>
                        <a:lnSpc>
                          <a:spcPct val="107000"/>
                        </a:lnSpc>
                        <a:spcAft>
                          <a:spcPts val="800"/>
                        </a:spcAft>
                      </a:pPr>
                      <a:r>
                        <a:rPr lang="en-IN" sz="1600">
                          <a:effectLst/>
                        </a:rPr>
                        <a: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a:effectLst/>
                        </a:rPr>
                        <a:t>Floor Division Assignment</a:t>
                      </a:r>
                      <a:endParaRPr lang="en-IN" sz="16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600" dirty="0">
                          <a:effectLst/>
                        </a:rPr>
                        <a:t>a //= 3 (Same as a = a // 3)</a:t>
                      </a:r>
                      <a:endParaRPr lang="en-IN" sz="16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2302368097"/>
                  </a:ext>
                </a:extLst>
              </a:tr>
            </a:tbl>
          </a:graphicData>
        </a:graphic>
      </p:graphicFrame>
    </p:spTree>
    <p:extLst>
      <p:ext uri="{BB962C8B-B14F-4D97-AF65-F5344CB8AC3E}">
        <p14:creationId xmlns:p14="http://schemas.microsoft.com/office/powerpoint/2010/main" val="2422208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D3549F-766C-537F-EA57-32F61F160F91}"/>
              </a:ext>
            </a:extLst>
          </p:cNvPr>
          <p:cNvSpPr>
            <a:spLocks noGrp="1"/>
          </p:cNvSpPr>
          <p:nvPr>
            <p:ph idx="1"/>
          </p:nvPr>
        </p:nvSpPr>
        <p:spPr>
          <a:xfrm>
            <a:off x="115411" y="71021"/>
            <a:ext cx="11904954" cy="6786979"/>
          </a:xfrm>
        </p:spPr>
        <p:txBody>
          <a:bodyPr>
            <a:normAutofit fontScale="92500" lnSpcReduction="10000"/>
          </a:bodyPr>
          <a:lstStyle/>
          <a:p>
            <a:pPr marL="0" indent="0">
              <a:lnSpc>
                <a:spcPct val="110000"/>
              </a:lnSpc>
              <a:spcBef>
                <a:spcPts val="200"/>
              </a:spcBef>
              <a:buNone/>
            </a:pPr>
            <a:r>
              <a:rPr lang="en-IN" sz="16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 = 10  # Assignment Operator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5 # Addition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5 :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5 # Subtraction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5 :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5  # Multiplication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5 :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5   # Division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5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3 # Remainder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3 :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2  # Exponent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2 :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 3  # Floor Division Assignment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Aft>
                <a:spcPts val="8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print ("a //= 3 : ", a)</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4140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F190DF-DC72-992F-7982-70799E865A1D}"/>
              </a:ext>
            </a:extLst>
          </p:cNvPr>
          <p:cNvSpPr>
            <a:spLocks noGrp="1"/>
          </p:cNvSpPr>
          <p:nvPr>
            <p:ph idx="1"/>
          </p:nvPr>
        </p:nvSpPr>
        <p:spPr>
          <a:xfrm>
            <a:off x="239697" y="177553"/>
            <a:ext cx="11754035" cy="6516210"/>
          </a:xfrm>
        </p:spPr>
        <p:txBody>
          <a:bodyPr/>
          <a:lstStyle/>
          <a:p>
            <a:pPr marL="0" indent="0">
              <a:buNone/>
            </a:pPr>
            <a:r>
              <a:rPr lang="en-IN" sz="24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Bitwise Operators</a:t>
            </a:r>
            <a:r>
              <a:rPr lang="en-IN" sz="2400"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Bitwise operator works on bits and performs bit by bit operation. Assume if a = 60; and </a:t>
            </a:r>
            <a:endParaRPr lang="en-IN" sz="1800"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DD2F9B8-76D2-D3BE-B5CF-D69BCC83A210}"/>
              </a:ext>
            </a:extLst>
          </p:cNvPr>
          <p:cNvGraphicFramePr>
            <a:graphicFrameLocks noGrp="1"/>
          </p:cNvGraphicFramePr>
          <p:nvPr>
            <p:extLst>
              <p:ext uri="{D42A27DB-BD31-4B8C-83A1-F6EECF244321}">
                <p14:modId xmlns:p14="http://schemas.microsoft.com/office/powerpoint/2010/main" val="3143975362"/>
              </p:ext>
            </p:extLst>
          </p:nvPr>
        </p:nvGraphicFramePr>
        <p:xfrm>
          <a:off x="417250" y="1189608"/>
          <a:ext cx="6924583" cy="5581110"/>
        </p:xfrm>
        <a:graphic>
          <a:graphicData uri="http://schemas.openxmlformats.org/drawingml/2006/table">
            <a:tbl>
              <a:tblPr bandRow="1">
                <a:tableStyleId>{5940675A-B579-460E-94D1-54222C63F5DA}</a:tableStyleId>
              </a:tblPr>
              <a:tblGrid>
                <a:gridCol w="1382230">
                  <a:extLst>
                    <a:ext uri="{9D8B030D-6E8A-4147-A177-3AD203B41FA5}">
                      <a16:colId xmlns:a16="http://schemas.microsoft.com/office/drawing/2014/main" val="1969401364"/>
                    </a:ext>
                  </a:extLst>
                </a:gridCol>
                <a:gridCol w="2270018">
                  <a:extLst>
                    <a:ext uri="{9D8B030D-6E8A-4147-A177-3AD203B41FA5}">
                      <a16:colId xmlns:a16="http://schemas.microsoft.com/office/drawing/2014/main" val="749912251"/>
                    </a:ext>
                  </a:extLst>
                </a:gridCol>
                <a:gridCol w="3272335">
                  <a:extLst>
                    <a:ext uri="{9D8B030D-6E8A-4147-A177-3AD203B41FA5}">
                      <a16:colId xmlns:a16="http://schemas.microsoft.com/office/drawing/2014/main" val="28053805"/>
                    </a:ext>
                  </a:extLst>
                </a:gridCol>
              </a:tblGrid>
              <a:tr h="416733">
                <a:tc>
                  <a:txBody>
                    <a:bodyPr/>
                    <a:lstStyle/>
                    <a:p>
                      <a:pPr algn="l">
                        <a:lnSpc>
                          <a:spcPct val="107000"/>
                        </a:lnSpc>
                        <a:spcAft>
                          <a:spcPts val="800"/>
                        </a:spcAft>
                      </a:pPr>
                      <a:r>
                        <a:rPr lang="en-IN" sz="1800">
                          <a:effectLst/>
                        </a:rPr>
                        <a:t>Operator</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1800" dirty="0">
                          <a:effectLst/>
                        </a:rPr>
                        <a:t>Name</a:t>
                      </a:r>
                      <a:endParaRPr lang="en-IN" sz="1800" dirty="0">
                        <a:effectLst/>
                        <a:latin typeface="Calibri" panose="020F0502020204030204" pitchFamily="34" charset="0"/>
                        <a:ea typeface="Calibri" panose="020F0502020204030204" pitchFamily="34" charset="0"/>
                      </a:endParaRPr>
                    </a:p>
                  </a:txBody>
                  <a:tcPr marL="76200" marR="76200" marT="76200" marB="76200"/>
                </a:tc>
                <a:tc>
                  <a:txBody>
                    <a:bodyPr/>
                    <a:lstStyle/>
                    <a:p>
                      <a:pPr algn="l">
                        <a:lnSpc>
                          <a:spcPct val="107000"/>
                        </a:lnSpc>
                        <a:spcAft>
                          <a:spcPts val="800"/>
                        </a:spcAft>
                      </a:pPr>
                      <a:r>
                        <a:rPr lang="en-IN" sz="1800" dirty="0">
                          <a:effectLst/>
                        </a:rPr>
                        <a:t>Example</a:t>
                      </a:r>
                      <a:endParaRPr lang="en-IN" sz="18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2724949983"/>
                  </a:ext>
                </a:extLst>
              </a:tr>
              <a:tr h="698697">
                <a:tc>
                  <a:txBody>
                    <a:bodyPr/>
                    <a:lstStyle/>
                    <a:p>
                      <a:pPr>
                        <a:lnSpc>
                          <a:spcPct val="107000"/>
                        </a:lnSpc>
                        <a:spcAft>
                          <a:spcPts val="800"/>
                        </a:spcAft>
                      </a:pPr>
                      <a:r>
                        <a:rPr lang="en-IN" sz="1800">
                          <a:effectLst/>
                        </a:rPr>
                        <a:t>&amp;</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Binary AND</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Sets each bit to 1 if both bits are 1</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3555382856"/>
                  </a:ext>
                </a:extLst>
              </a:tr>
              <a:tr h="698697">
                <a:tc>
                  <a:txBody>
                    <a:bodyPr/>
                    <a:lstStyle/>
                    <a:p>
                      <a:pPr>
                        <a:lnSpc>
                          <a:spcPct val="107000"/>
                        </a:lnSpc>
                        <a:spcAft>
                          <a:spcPts val="800"/>
                        </a:spcAft>
                      </a:pPr>
                      <a:r>
                        <a:rPr lang="en-IN" sz="1800">
                          <a:effectLst/>
                        </a:rPr>
                        <a: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Binary OR</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Sets each bit to 1 if one of two bits is 1</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2342479552"/>
                  </a:ext>
                </a:extLst>
              </a:tr>
              <a:tr h="698697">
                <a:tc>
                  <a:txBody>
                    <a:bodyPr/>
                    <a:lstStyle/>
                    <a:p>
                      <a:pPr>
                        <a:lnSpc>
                          <a:spcPct val="107000"/>
                        </a:lnSpc>
                        <a:spcAft>
                          <a:spcPts val="800"/>
                        </a:spcAft>
                      </a:pPr>
                      <a:r>
                        <a:rPr lang="en-IN" sz="1800">
                          <a:effectLst/>
                        </a:rPr>
                        <a: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dirty="0">
                          <a:effectLst/>
                        </a:rPr>
                        <a:t>Binary XOR</a:t>
                      </a:r>
                      <a:endParaRPr lang="en-IN" sz="1800" dirty="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Sets each bit to 1 if only one of two bits is 1</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448782950"/>
                  </a:ext>
                </a:extLst>
              </a:tr>
              <a:tr h="698697">
                <a:tc>
                  <a:txBody>
                    <a:bodyPr/>
                    <a:lstStyle/>
                    <a:p>
                      <a:pPr>
                        <a:lnSpc>
                          <a:spcPct val="107000"/>
                        </a:lnSpc>
                        <a:spcAft>
                          <a:spcPts val="800"/>
                        </a:spcAft>
                      </a:pPr>
                      <a:r>
                        <a:rPr lang="en-IN" sz="1800">
                          <a:effectLst/>
                        </a:rPr>
                        <a: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Binary Ones Complement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Inverts all the bits</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3504435483"/>
                  </a:ext>
                </a:extLst>
              </a:tr>
              <a:tr h="981010">
                <a:tc>
                  <a:txBody>
                    <a:bodyPr/>
                    <a:lstStyle/>
                    <a:p>
                      <a:pPr>
                        <a:lnSpc>
                          <a:spcPct val="107000"/>
                        </a:lnSpc>
                        <a:spcAft>
                          <a:spcPts val="800"/>
                        </a:spcAft>
                      </a:pPr>
                      <a:r>
                        <a:rPr lang="en-IN" sz="1800">
                          <a:effectLst/>
                        </a:rPr>
                        <a:t>&lt;&lt; </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Binary Left Shift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Shift left by pushing zeros in from the right and let the leftmost bits fall off</a:t>
                      </a:r>
                      <a:endParaRPr lang="en-IN" sz="180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169857091"/>
                  </a:ext>
                </a:extLst>
              </a:tr>
              <a:tr h="1222848">
                <a:tc>
                  <a:txBody>
                    <a:bodyPr/>
                    <a:lstStyle/>
                    <a:p>
                      <a:pPr>
                        <a:lnSpc>
                          <a:spcPct val="107000"/>
                        </a:lnSpc>
                        <a:spcAft>
                          <a:spcPts val="800"/>
                        </a:spcAft>
                      </a:pPr>
                      <a:r>
                        <a:rPr lang="en-IN" sz="1800">
                          <a:effectLst/>
                        </a:rPr>
                        <a:t>&gt;&gt; </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a:effectLst/>
                        </a:rPr>
                        <a:t>Binary Right Shift</a:t>
                      </a:r>
                      <a:endParaRPr lang="en-IN" sz="1800">
                        <a:effectLst/>
                        <a:latin typeface="Calibri" panose="020F0502020204030204" pitchFamily="34" charset="0"/>
                        <a:ea typeface="Calibri" panose="020F0502020204030204" pitchFamily="34" charset="0"/>
                      </a:endParaRPr>
                    </a:p>
                  </a:txBody>
                  <a:tcPr marL="76200" marR="76200" marT="76200" marB="76200"/>
                </a:tc>
                <a:tc>
                  <a:txBody>
                    <a:bodyPr/>
                    <a:lstStyle/>
                    <a:p>
                      <a:pPr>
                        <a:lnSpc>
                          <a:spcPct val="107000"/>
                        </a:lnSpc>
                        <a:spcAft>
                          <a:spcPts val="800"/>
                        </a:spcAft>
                      </a:pPr>
                      <a:r>
                        <a:rPr lang="en-IN" sz="1800" dirty="0">
                          <a:effectLst/>
                        </a:rPr>
                        <a:t>Shift right by pushing copies of the leftmost bit in from the left, and let the rightmost bits fall off</a:t>
                      </a:r>
                      <a:endParaRPr lang="en-IN" sz="1800" dirty="0">
                        <a:effectLst/>
                        <a:latin typeface="Calibri" panose="020F0502020204030204" pitchFamily="34" charset="0"/>
                        <a:ea typeface="Calibri" panose="020F0502020204030204" pitchFamily="34" charset="0"/>
                      </a:endParaRPr>
                    </a:p>
                  </a:txBody>
                  <a:tcPr marL="76200" marR="76200" marT="76200" marB="76200"/>
                </a:tc>
                <a:extLst>
                  <a:ext uri="{0D108BD9-81ED-4DB2-BD59-A6C34878D82A}">
                    <a16:rowId xmlns:a16="http://schemas.microsoft.com/office/drawing/2014/main" val="2209564865"/>
                  </a:ext>
                </a:extLst>
              </a:tr>
            </a:tbl>
          </a:graphicData>
        </a:graphic>
      </p:graphicFrame>
    </p:spTree>
    <p:extLst>
      <p:ext uri="{BB962C8B-B14F-4D97-AF65-F5344CB8AC3E}">
        <p14:creationId xmlns:p14="http://schemas.microsoft.com/office/powerpoint/2010/main" val="260772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99F9F-D3BF-FEC2-8AFB-9935BBD6D2B4}"/>
              </a:ext>
            </a:extLst>
          </p:cNvPr>
          <p:cNvSpPr>
            <a:spLocks noGrp="1"/>
          </p:cNvSpPr>
          <p:nvPr>
            <p:ph idx="1"/>
          </p:nvPr>
        </p:nvSpPr>
        <p:spPr>
          <a:xfrm>
            <a:off x="150921" y="133165"/>
            <a:ext cx="11202880" cy="6622742"/>
          </a:xfrm>
        </p:spPr>
        <p:txBody>
          <a:bodyPr>
            <a:normAutofit fontScale="92500" lnSpcReduction="10000"/>
          </a:bodyPr>
          <a:lstStyle/>
          <a:p>
            <a:pPr marL="0" indent="0">
              <a:lnSpc>
                <a:spcPct val="107000"/>
              </a:lnSpc>
              <a:spcBef>
                <a:spcPts val="200"/>
              </a:spcBef>
              <a:buNone/>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Example:  a = 60            # 60 = 0011 1100</a:t>
            </a:r>
            <a:endParaRPr lang="en-IN" sz="1800" b="1"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b = 13            # 13 = 0000 1101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Aft>
                <a:spcPts val="800"/>
              </a:spcAft>
              <a:buNone/>
            </a:pPr>
            <a:r>
              <a:rPr lang="en-IN" sz="1800"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Binary AND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c = a &amp; b        # 12 = 0000 1100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print ("a &amp; b : ", c)</a:t>
            </a:r>
          </a:p>
          <a:p>
            <a:pPr marL="0" indent="0">
              <a:lnSpc>
                <a:spcPct val="107000"/>
              </a:lnSpc>
              <a:spcAft>
                <a:spcPts val="8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 Binary OR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c = a | b        # 61 = 0011 1101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print ("a | b : ", c)</a:t>
            </a:r>
          </a:p>
          <a:p>
            <a:pPr marL="0" indent="0">
              <a:lnSpc>
                <a:spcPct val="107000"/>
              </a:lnSpc>
              <a:spcAft>
                <a:spcPts val="8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 Binary XOR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c = a ^ b        # 49 = 0011 0001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print ("a ^ b : ", c)</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1161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FF12D6-BAFF-528A-0670-30612A35CA95}"/>
              </a:ext>
            </a:extLst>
          </p:cNvPr>
          <p:cNvSpPr>
            <a:spLocks noGrp="1"/>
          </p:cNvSpPr>
          <p:nvPr>
            <p:ph idx="1"/>
          </p:nvPr>
        </p:nvSpPr>
        <p:spPr>
          <a:xfrm>
            <a:off x="248575" y="275208"/>
            <a:ext cx="11105225" cy="6445188"/>
          </a:xfrm>
        </p:spPr>
        <p:txBody>
          <a:bodyPr>
            <a:normAutofit/>
          </a:bodyPr>
          <a:lstStyle/>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 Binary Ones Complement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c = ~a;           # -61 = 1100 0011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print ("~a : ", c)</a:t>
            </a:r>
          </a:p>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 Binary Left Shift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0011 1100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c = a &lt;&lt; 2;       # 240 = 1111 0000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print ("a &lt;&lt; 2 : ", c)</a:t>
            </a:r>
          </a:p>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 Binary Right Shift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c = a &gt;&gt; 2;       # 15 = 0000 1111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print ("a &gt;&gt; 2 : ", c)</a:t>
            </a:r>
            <a:endParaRPr lang="en-IN" sz="2000" dirty="0"/>
          </a:p>
        </p:txBody>
      </p:sp>
    </p:spTree>
    <p:extLst>
      <p:ext uri="{BB962C8B-B14F-4D97-AF65-F5344CB8AC3E}">
        <p14:creationId xmlns:p14="http://schemas.microsoft.com/office/powerpoint/2010/main" val="1340963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4773C-A1D6-EE50-3FF5-45C17C9D156A}"/>
              </a:ext>
            </a:extLst>
          </p:cNvPr>
          <p:cNvSpPr>
            <a:spLocks noGrp="1"/>
          </p:cNvSpPr>
          <p:nvPr>
            <p:ph idx="1"/>
          </p:nvPr>
        </p:nvSpPr>
        <p:spPr>
          <a:xfrm>
            <a:off x="168676" y="206405"/>
            <a:ext cx="11149614" cy="6445189"/>
          </a:xfrm>
        </p:spPr>
        <p:txBody>
          <a:bodyPr/>
          <a:lstStyle/>
          <a:p>
            <a:pPr marL="0" indent="0">
              <a:buNone/>
            </a:pPr>
            <a:r>
              <a:rPr lang="en-IN"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Logical Operators:</a:t>
            </a:r>
            <a:endParaRPr lang="en-IN"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4" name="Table 3">
            <a:extLst>
              <a:ext uri="{FF2B5EF4-FFF2-40B4-BE49-F238E27FC236}">
                <a16:creationId xmlns:a16="http://schemas.microsoft.com/office/drawing/2014/main" id="{958B4C05-727A-B3D9-B56C-E71AEEAAAE8D}"/>
              </a:ext>
            </a:extLst>
          </p:cNvPr>
          <p:cNvGraphicFramePr>
            <a:graphicFrameLocks noGrp="1"/>
          </p:cNvGraphicFramePr>
          <p:nvPr>
            <p:extLst>
              <p:ext uri="{D42A27DB-BD31-4B8C-83A1-F6EECF244321}">
                <p14:modId xmlns:p14="http://schemas.microsoft.com/office/powerpoint/2010/main" val="1669917862"/>
              </p:ext>
            </p:extLst>
          </p:nvPr>
        </p:nvGraphicFramePr>
        <p:xfrm>
          <a:off x="754601" y="1251750"/>
          <a:ext cx="10626572" cy="4767310"/>
        </p:xfrm>
        <a:graphic>
          <a:graphicData uri="http://schemas.openxmlformats.org/drawingml/2006/table">
            <a:tbl>
              <a:tblPr bandRow="1">
                <a:tableStyleId>{5940675A-B579-460E-94D1-54222C63F5DA}</a:tableStyleId>
              </a:tblPr>
              <a:tblGrid>
                <a:gridCol w="2190896">
                  <a:extLst>
                    <a:ext uri="{9D8B030D-6E8A-4147-A177-3AD203B41FA5}">
                      <a16:colId xmlns:a16="http://schemas.microsoft.com/office/drawing/2014/main" val="1747808419"/>
                    </a:ext>
                  </a:extLst>
                </a:gridCol>
                <a:gridCol w="6867857">
                  <a:extLst>
                    <a:ext uri="{9D8B030D-6E8A-4147-A177-3AD203B41FA5}">
                      <a16:colId xmlns:a16="http://schemas.microsoft.com/office/drawing/2014/main" val="925651468"/>
                    </a:ext>
                  </a:extLst>
                </a:gridCol>
                <a:gridCol w="1567819">
                  <a:extLst>
                    <a:ext uri="{9D8B030D-6E8A-4147-A177-3AD203B41FA5}">
                      <a16:colId xmlns:a16="http://schemas.microsoft.com/office/drawing/2014/main" val="3453837044"/>
                    </a:ext>
                  </a:extLst>
                </a:gridCol>
              </a:tblGrid>
              <a:tr h="1009501">
                <a:tc>
                  <a:txBody>
                    <a:bodyPr/>
                    <a:lstStyle/>
                    <a:p>
                      <a:pPr algn="l">
                        <a:lnSpc>
                          <a:spcPct val="107000"/>
                        </a:lnSpc>
                        <a:spcAft>
                          <a:spcPts val="800"/>
                        </a:spcAft>
                      </a:pPr>
                      <a:r>
                        <a:rPr lang="en-IN" sz="1800" dirty="0">
                          <a:effectLst/>
                        </a:rPr>
                        <a:t>Operator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gn="l">
                        <a:lnSpc>
                          <a:spcPct val="107000"/>
                        </a:lnSpc>
                        <a:spcAft>
                          <a:spcPts val="800"/>
                        </a:spcAft>
                      </a:pPr>
                      <a:r>
                        <a:rPr lang="en-IN" sz="1800" dirty="0">
                          <a:effectLst/>
                        </a:rPr>
                        <a:t>Description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gn="l">
                        <a:lnSpc>
                          <a:spcPct val="107000"/>
                        </a:lnSpc>
                        <a:spcAft>
                          <a:spcPts val="800"/>
                        </a:spcAft>
                      </a:pPr>
                      <a:r>
                        <a:rPr lang="en-IN" sz="1800" dirty="0">
                          <a:effectLst/>
                        </a:rPr>
                        <a:t>Example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055451030"/>
                  </a:ext>
                </a:extLst>
              </a:tr>
              <a:tr h="1374154">
                <a:tc>
                  <a:txBody>
                    <a:bodyPr/>
                    <a:lstStyle/>
                    <a:p>
                      <a:pPr>
                        <a:lnSpc>
                          <a:spcPct val="107000"/>
                        </a:lnSpc>
                        <a:spcAft>
                          <a:spcPts val="800"/>
                        </a:spcAft>
                      </a:pPr>
                      <a:r>
                        <a:rPr lang="en-IN" sz="1800">
                          <a:effectLst/>
                        </a:rPr>
                        <a:t>and Logical AND</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If both the operands are true then the condition becomes true.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(a and b) is true.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929308227"/>
                  </a:ext>
                </a:extLst>
              </a:tr>
              <a:tr h="1009501">
                <a:tc>
                  <a:txBody>
                    <a:bodyPr/>
                    <a:lstStyle/>
                    <a:p>
                      <a:pPr>
                        <a:lnSpc>
                          <a:spcPct val="107000"/>
                        </a:lnSpc>
                        <a:spcAft>
                          <a:spcPts val="800"/>
                        </a:spcAft>
                      </a:pPr>
                      <a:r>
                        <a:rPr lang="en-IN" sz="1800">
                          <a:effectLst/>
                        </a:rPr>
                        <a:t>or Logical OR</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If any of the two operands are non-zero then the condition becomes true.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a:effectLst/>
                        </a:rPr>
                        <a:t>(a or b) is true.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738562263"/>
                  </a:ext>
                </a:extLst>
              </a:tr>
              <a:tr h="1374154">
                <a:tc>
                  <a:txBody>
                    <a:bodyPr/>
                    <a:lstStyle/>
                    <a:p>
                      <a:pPr>
                        <a:lnSpc>
                          <a:spcPct val="107000"/>
                        </a:lnSpc>
                        <a:spcAft>
                          <a:spcPts val="800"/>
                        </a:spcAft>
                      </a:pPr>
                      <a:r>
                        <a:rPr lang="en-IN" sz="1800">
                          <a:effectLst/>
                        </a:rPr>
                        <a:t>not Logical NOT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a:effectLst/>
                        </a:rPr>
                        <a:t>Used to reverse the logical state of its operand.</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Not(a and b) is false.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4097743148"/>
                  </a:ext>
                </a:extLst>
              </a:tr>
            </a:tbl>
          </a:graphicData>
        </a:graphic>
      </p:graphicFrame>
    </p:spTree>
    <p:extLst>
      <p:ext uri="{BB962C8B-B14F-4D97-AF65-F5344CB8AC3E}">
        <p14:creationId xmlns:p14="http://schemas.microsoft.com/office/powerpoint/2010/main" val="4159094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D1556-3DEA-FCDA-2F1C-37DDBD7700F5}"/>
              </a:ext>
            </a:extLst>
          </p:cNvPr>
          <p:cNvSpPr>
            <a:spLocks noGrp="1"/>
          </p:cNvSpPr>
          <p:nvPr>
            <p:ph idx="1"/>
          </p:nvPr>
        </p:nvSpPr>
        <p:spPr>
          <a:xfrm>
            <a:off x="177553" y="257452"/>
            <a:ext cx="11176247" cy="6391923"/>
          </a:xfrm>
        </p:spPr>
        <p:txBody>
          <a:bodyPr>
            <a:normAutofit/>
          </a:bodyPr>
          <a:lstStyle/>
          <a:p>
            <a:pPr marL="0" indent="0">
              <a:buNone/>
            </a:pPr>
            <a:r>
              <a:rPr lang="en-IN"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Membership Operators:</a:t>
            </a:r>
            <a:endParaRPr lang="en-IN"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sz="4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C8844AB-04A8-8776-B904-38D011C38137}"/>
              </a:ext>
            </a:extLst>
          </p:cNvPr>
          <p:cNvGraphicFramePr>
            <a:graphicFrameLocks noGrp="1"/>
          </p:cNvGraphicFramePr>
          <p:nvPr>
            <p:extLst>
              <p:ext uri="{D42A27DB-BD31-4B8C-83A1-F6EECF244321}">
                <p14:modId xmlns:p14="http://schemas.microsoft.com/office/powerpoint/2010/main" val="3012070833"/>
              </p:ext>
            </p:extLst>
          </p:nvPr>
        </p:nvGraphicFramePr>
        <p:xfrm>
          <a:off x="381739" y="958790"/>
          <a:ext cx="11088211" cy="4589754"/>
        </p:xfrm>
        <a:graphic>
          <a:graphicData uri="http://schemas.openxmlformats.org/drawingml/2006/table">
            <a:tbl>
              <a:tblPr bandRow="1">
                <a:tableStyleId>{5940675A-B579-460E-94D1-54222C63F5DA}</a:tableStyleId>
              </a:tblPr>
              <a:tblGrid>
                <a:gridCol w="1648138">
                  <a:extLst>
                    <a:ext uri="{9D8B030D-6E8A-4147-A177-3AD203B41FA5}">
                      <a16:colId xmlns:a16="http://schemas.microsoft.com/office/drawing/2014/main" val="1497367757"/>
                    </a:ext>
                  </a:extLst>
                </a:gridCol>
                <a:gridCol w="7756580">
                  <a:extLst>
                    <a:ext uri="{9D8B030D-6E8A-4147-A177-3AD203B41FA5}">
                      <a16:colId xmlns:a16="http://schemas.microsoft.com/office/drawing/2014/main" val="3661200322"/>
                    </a:ext>
                  </a:extLst>
                </a:gridCol>
                <a:gridCol w="1683493">
                  <a:extLst>
                    <a:ext uri="{9D8B030D-6E8A-4147-A177-3AD203B41FA5}">
                      <a16:colId xmlns:a16="http://schemas.microsoft.com/office/drawing/2014/main" val="2992379195"/>
                    </a:ext>
                  </a:extLst>
                </a:gridCol>
              </a:tblGrid>
              <a:tr h="522665">
                <a:tc>
                  <a:txBody>
                    <a:bodyPr/>
                    <a:lstStyle/>
                    <a:p>
                      <a:pPr algn="l">
                        <a:lnSpc>
                          <a:spcPct val="107000"/>
                        </a:lnSpc>
                        <a:spcAft>
                          <a:spcPts val="800"/>
                        </a:spcAft>
                      </a:pPr>
                      <a:r>
                        <a:rPr lang="en-IN" sz="1800">
                          <a:effectLst/>
                        </a:rPr>
                        <a:t>Operator</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tc>
                  <a:txBody>
                    <a:bodyPr/>
                    <a:lstStyle/>
                    <a:p>
                      <a:pPr algn="l">
                        <a:lnSpc>
                          <a:spcPct val="107000"/>
                        </a:lnSpc>
                        <a:spcAft>
                          <a:spcPts val="800"/>
                        </a:spcAft>
                      </a:pPr>
                      <a:r>
                        <a:rPr lang="en-IN" sz="1800" dirty="0">
                          <a:effectLst/>
                        </a:rPr>
                        <a:t>Description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tc>
                  <a:txBody>
                    <a:bodyPr/>
                    <a:lstStyle/>
                    <a:p>
                      <a:pPr algn="l">
                        <a:lnSpc>
                          <a:spcPct val="107000"/>
                        </a:lnSpc>
                        <a:spcAft>
                          <a:spcPts val="800"/>
                        </a:spcAft>
                      </a:pPr>
                      <a:r>
                        <a:rPr lang="en-IN" sz="1800" dirty="0">
                          <a:effectLst/>
                        </a:rPr>
                        <a:t>Example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extLst>
                  <a:ext uri="{0D108BD9-81ED-4DB2-BD59-A6C34878D82A}">
                    <a16:rowId xmlns:a16="http://schemas.microsoft.com/office/drawing/2014/main" val="1138172300"/>
                  </a:ext>
                </a:extLst>
              </a:tr>
              <a:tr h="1844684">
                <a:tc>
                  <a:txBody>
                    <a:bodyPr/>
                    <a:lstStyle/>
                    <a:p>
                      <a:pPr>
                        <a:lnSpc>
                          <a:spcPct val="107000"/>
                        </a:lnSpc>
                        <a:spcAft>
                          <a:spcPts val="800"/>
                        </a:spcAft>
                      </a:pPr>
                      <a:r>
                        <a:rPr lang="en-IN" sz="1800">
                          <a:effectLst/>
                        </a:rPr>
                        <a:t>in</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tc>
                  <a:txBody>
                    <a:bodyPr/>
                    <a:lstStyle/>
                    <a:p>
                      <a:pPr>
                        <a:lnSpc>
                          <a:spcPct val="107000"/>
                        </a:lnSpc>
                        <a:spcAft>
                          <a:spcPts val="800"/>
                        </a:spcAft>
                      </a:pPr>
                      <a:r>
                        <a:rPr lang="en-IN" sz="1800" dirty="0">
                          <a:effectLst/>
                        </a:rPr>
                        <a:t>Evaluates to true if it finds a variable in the specified sequence and false otherwise.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tc>
                  <a:txBody>
                    <a:bodyPr/>
                    <a:lstStyle/>
                    <a:p>
                      <a:pPr>
                        <a:lnSpc>
                          <a:spcPct val="107000"/>
                        </a:lnSpc>
                        <a:spcAft>
                          <a:spcPts val="800"/>
                        </a:spcAft>
                      </a:pPr>
                      <a:r>
                        <a:rPr lang="en-IN" sz="1800" dirty="0">
                          <a:effectLst/>
                        </a:rPr>
                        <a:t>x in y, here results in a 1 if x is a member of sequence 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nchor="ctr"/>
                </a:tc>
                <a:extLst>
                  <a:ext uri="{0D108BD9-81ED-4DB2-BD59-A6C34878D82A}">
                    <a16:rowId xmlns:a16="http://schemas.microsoft.com/office/drawing/2014/main" val="1654279407"/>
                  </a:ext>
                </a:extLst>
              </a:tr>
              <a:tr h="2222405">
                <a:tc>
                  <a:txBody>
                    <a:bodyPr/>
                    <a:lstStyle/>
                    <a:p>
                      <a:pPr>
                        <a:lnSpc>
                          <a:spcPct val="107000"/>
                        </a:lnSpc>
                        <a:spcAft>
                          <a:spcPts val="800"/>
                        </a:spcAft>
                      </a:pPr>
                      <a:r>
                        <a:rPr lang="en-IN" sz="1800">
                          <a:effectLst/>
                        </a:rPr>
                        <a:t>not in</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tc>
                  <a:txBody>
                    <a:bodyPr/>
                    <a:lstStyle/>
                    <a:p>
                      <a:pPr>
                        <a:lnSpc>
                          <a:spcPct val="107000"/>
                        </a:lnSpc>
                        <a:spcAft>
                          <a:spcPts val="800"/>
                        </a:spcAft>
                      </a:pPr>
                      <a:r>
                        <a:rPr lang="en-IN" sz="1800">
                          <a:effectLst/>
                        </a:rPr>
                        <a:t>Evaluates to true if it does not find a variable in the specified sequence and false otherwise.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tc>
                  <a:txBody>
                    <a:bodyPr/>
                    <a:lstStyle/>
                    <a:p>
                      <a:pPr>
                        <a:lnSpc>
                          <a:spcPct val="107000"/>
                        </a:lnSpc>
                        <a:spcAft>
                          <a:spcPts val="800"/>
                        </a:spcAft>
                      </a:pPr>
                      <a:r>
                        <a:rPr lang="en-IN" sz="1800" dirty="0">
                          <a:effectLst/>
                        </a:rPr>
                        <a:t>x not in y, here not in results in a 1 if x is not a member of sequence 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2806" marR="72806" marT="72806" marB="72806"/>
                </a:tc>
                <a:extLst>
                  <a:ext uri="{0D108BD9-81ED-4DB2-BD59-A6C34878D82A}">
                    <a16:rowId xmlns:a16="http://schemas.microsoft.com/office/drawing/2014/main" val="4085765678"/>
                  </a:ext>
                </a:extLst>
              </a:tr>
            </a:tbl>
          </a:graphicData>
        </a:graphic>
      </p:graphicFrame>
    </p:spTree>
    <p:extLst>
      <p:ext uri="{BB962C8B-B14F-4D97-AF65-F5344CB8AC3E}">
        <p14:creationId xmlns:p14="http://schemas.microsoft.com/office/powerpoint/2010/main" val="240950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4032E7-AB53-1B6F-D45E-64C7BEE06D62}"/>
              </a:ext>
            </a:extLst>
          </p:cNvPr>
          <p:cNvSpPr>
            <a:spLocks noGrp="1"/>
          </p:cNvSpPr>
          <p:nvPr>
            <p:ph idx="1"/>
          </p:nvPr>
        </p:nvSpPr>
        <p:spPr>
          <a:xfrm>
            <a:off x="213064" y="186431"/>
            <a:ext cx="11140736" cy="6498454"/>
          </a:xfrm>
        </p:spPr>
        <p:txBody>
          <a:bodyPr/>
          <a:lstStyle/>
          <a:p>
            <a:pPr marL="0" indent="0">
              <a:buNone/>
            </a:pPr>
            <a:r>
              <a:rPr lang="en-IN"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Identity Operators:</a:t>
            </a:r>
            <a:endParaRPr lang="en-IN"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4" name="Table 3">
            <a:extLst>
              <a:ext uri="{FF2B5EF4-FFF2-40B4-BE49-F238E27FC236}">
                <a16:creationId xmlns:a16="http://schemas.microsoft.com/office/drawing/2014/main" id="{28481C7F-65DB-8A0A-5C41-0706ACD9A0DF}"/>
              </a:ext>
            </a:extLst>
          </p:cNvPr>
          <p:cNvGraphicFramePr>
            <a:graphicFrameLocks noGrp="1"/>
          </p:cNvGraphicFramePr>
          <p:nvPr>
            <p:extLst>
              <p:ext uri="{D42A27DB-BD31-4B8C-83A1-F6EECF244321}">
                <p14:modId xmlns:p14="http://schemas.microsoft.com/office/powerpoint/2010/main" val="3990615745"/>
              </p:ext>
            </p:extLst>
          </p:nvPr>
        </p:nvGraphicFramePr>
        <p:xfrm>
          <a:off x="523783" y="914400"/>
          <a:ext cx="11008310" cy="4447713"/>
        </p:xfrm>
        <a:graphic>
          <a:graphicData uri="http://schemas.openxmlformats.org/drawingml/2006/table">
            <a:tbl>
              <a:tblPr bandRow="1">
                <a:tableStyleId>{5940675A-B579-460E-94D1-54222C63F5DA}</a:tableStyleId>
              </a:tblPr>
              <a:tblGrid>
                <a:gridCol w="1693801">
                  <a:extLst>
                    <a:ext uri="{9D8B030D-6E8A-4147-A177-3AD203B41FA5}">
                      <a16:colId xmlns:a16="http://schemas.microsoft.com/office/drawing/2014/main" val="2875834917"/>
                    </a:ext>
                  </a:extLst>
                </a:gridCol>
                <a:gridCol w="6941510">
                  <a:extLst>
                    <a:ext uri="{9D8B030D-6E8A-4147-A177-3AD203B41FA5}">
                      <a16:colId xmlns:a16="http://schemas.microsoft.com/office/drawing/2014/main" val="1586234258"/>
                    </a:ext>
                  </a:extLst>
                </a:gridCol>
                <a:gridCol w="2372999">
                  <a:extLst>
                    <a:ext uri="{9D8B030D-6E8A-4147-A177-3AD203B41FA5}">
                      <a16:colId xmlns:a16="http://schemas.microsoft.com/office/drawing/2014/main" val="2720240222"/>
                    </a:ext>
                  </a:extLst>
                </a:gridCol>
              </a:tblGrid>
              <a:tr h="510662">
                <a:tc>
                  <a:txBody>
                    <a:bodyPr/>
                    <a:lstStyle/>
                    <a:p>
                      <a:pPr algn="l">
                        <a:lnSpc>
                          <a:spcPct val="107000"/>
                        </a:lnSpc>
                        <a:spcAft>
                          <a:spcPts val="800"/>
                        </a:spcAft>
                      </a:pPr>
                      <a:r>
                        <a:rPr lang="en-IN" sz="1800">
                          <a:effectLst/>
                        </a:rPr>
                        <a:t>Operator</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gn="l">
                        <a:lnSpc>
                          <a:spcPct val="107000"/>
                        </a:lnSpc>
                        <a:spcAft>
                          <a:spcPts val="800"/>
                        </a:spcAft>
                      </a:pPr>
                      <a:r>
                        <a:rPr lang="en-IN" sz="1800" dirty="0">
                          <a:effectLst/>
                        </a:rPr>
                        <a:t>Description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gn="l">
                        <a:lnSpc>
                          <a:spcPct val="107000"/>
                        </a:lnSpc>
                        <a:spcAft>
                          <a:spcPts val="800"/>
                        </a:spcAft>
                      </a:pPr>
                      <a:r>
                        <a:rPr lang="en-IN" sz="1800" dirty="0">
                          <a:effectLst/>
                        </a:rPr>
                        <a:t>Example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2169625831"/>
                  </a:ext>
                </a:extLst>
              </a:tr>
              <a:tr h="1551993">
                <a:tc>
                  <a:txBody>
                    <a:bodyPr/>
                    <a:lstStyle/>
                    <a:p>
                      <a:pPr>
                        <a:lnSpc>
                          <a:spcPct val="107000"/>
                        </a:lnSpc>
                        <a:spcAft>
                          <a:spcPts val="800"/>
                        </a:spcAft>
                      </a:pPr>
                      <a:r>
                        <a:rPr lang="en-IN" sz="1800">
                          <a:effectLst/>
                        </a:rPr>
                        <a:t>is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Evaluates to true if the variables on either side of the operator point to the same object and false otherwise.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x is y, here is results in 1 if id(x) equals id(y).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3634119281"/>
                  </a:ext>
                </a:extLst>
              </a:tr>
              <a:tr h="2385058">
                <a:tc>
                  <a:txBody>
                    <a:bodyPr/>
                    <a:lstStyle/>
                    <a:p>
                      <a:pPr>
                        <a:lnSpc>
                          <a:spcPct val="107000"/>
                        </a:lnSpc>
                        <a:spcAft>
                          <a:spcPts val="800"/>
                        </a:spcAft>
                      </a:pPr>
                      <a:r>
                        <a:rPr lang="en-IN" sz="1800">
                          <a:effectLst/>
                        </a:rPr>
                        <a:t>is not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a:effectLst/>
                        </a:rPr>
                        <a:t>Evaluates to false if the variables on either side of the operator point to the same object and true otherwise.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800"/>
                        </a:spcAft>
                      </a:pPr>
                      <a:r>
                        <a:rPr lang="en-IN" sz="1800" dirty="0">
                          <a:effectLst/>
                        </a:rPr>
                        <a:t>x is not y, here is not results in 1 if id(x) is not equal to id(y).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455591981"/>
                  </a:ext>
                </a:extLst>
              </a:tr>
            </a:tbl>
          </a:graphicData>
        </a:graphic>
      </p:graphicFrame>
    </p:spTree>
    <p:extLst>
      <p:ext uri="{BB962C8B-B14F-4D97-AF65-F5344CB8AC3E}">
        <p14:creationId xmlns:p14="http://schemas.microsoft.com/office/powerpoint/2010/main" val="3194159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1298</Words>
  <Application>Microsoft Office PowerPoint</Application>
  <PresentationFormat>Widescreen</PresentationFormat>
  <Paragraphs>205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Athul raj</dc:creator>
  <cp:lastModifiedBy>Athul raj</cp:lastModifiedBy>
  <cp:revision>4</cp:revision>
  <dcterms:created xsi:type="dcterms:W3CDTF">2024-02-21T08:41:40Z</dcterms:created>
  <dcterms:modified xsi:type="dcterms:W3CDTF">2024-02-29T09:26:49Z</dcterms:modified>
</cp:coreProperties>
</file>